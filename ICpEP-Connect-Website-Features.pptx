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b84497c474939" /><Relationship Type="http://schemas.openxmlformats.org/officeDocument/2006/relationships/extended-properties" Target="/docProps/app.xml" Id="Rb382923fbeee4710" /><Relationship Type="http://schemas.openxmlformats.org/officeDocument/2006/relationships/officeDocument" Target="/ppt/presentation.xml" Id="R9d03af0408aa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8a4c97f9d7469f"/>
  </p:sldMasterIdLst>
  <p:notesMasterIdLst>
    <p:notesMasterId xmlns:r="http://schemas.openxmlformats.org/officeDocument/2006/relationships" r:id="R37b0853d36b74529"/>
  </p:notesMasterIdLst>
  <p:sldIdLst>
    <p:sldId xmlns:r="http://schemas.openxmlformats.org/officeDocument/2006/relationships" id="256" r:id="R72ee5b02656a4c0d"/>
    <p:sldId xmlns:r="http://schemas.openxmlformats.org/officeDocument/2006/relationships" id="257" r:id="Rf9f6d78169b54947"/>
    <p:sldId xmlns:r="http://schemas.openxmlformats.org/officeDocument/2006/relationships" id="258" r:id="Rd75ec5d65ee0414b"/>
    <p:sldId xmlns:r="http://schemas.openxmlformats.org/officeDocument/2006/relationships" id="259" r:id="Rc9a28a21215a41d5"/>
    <p:sldId xmlns:r="http://schemas.openxmlformats.org/officeDocument/2006/relationships" id="260" r:id="R7df113ca88744dd8"/>
    <p:sldId xmlns:r="http://schemas.openxmlformats.org/officeDocument/2006/relationships" id="261" r:id="R1d2d0cdfe76b4c94"/>
    <p:sldId xmlns:r="http://schemas.openxmlformats.org/officeDocument/2006/relationships" id="262" r:id="Re327e2160fd84cbd"/>
    <p:sldId xmlns:r="http://schemas.openxmlformats.org/officeDocument/2006/relationships" id="263" r:id="Rc02fd5b1617d4679"/>
    <p:sldId xmlns:r="http://schemas.openxmlformats.org/officeDocument/2006/relationships" id="264" r:id="R4fcbbb3fdbf74984"/>
    <p:sldId xmlns:r="http://schemas.openxmlformats.org/officeDocument/2006/relationships" id="265" r:id="R20c96956e07f4136"/>
    <p:sldId xmlns:r="http://schemas.openxmlformats.org/officeDocument/2006/relationships" id="266" r:id="R7db8e70a835a4524"/>
    <p:sldId xmlns:r="http://schemas.openxmlformats.org/officeDocument/2006/relationships" id="267" r:id="R8fe631a43ba148f7"/>
    <p:sldId xmlns:r="http://schemas.openxmlformats.org/officeDocument/2006/relationships" id="268" r:id="Ra63427a6dbd948b8"/>
    <p:sldId xmlns:r="http://schemas.openxmlformats.org/officeDocument/2006/relationships" id="269" r:id="Rde596fd19b5842e8"/>
    <p:sldId xmlns:r="http://schemas.openxmlformats.org/officeDocument/2006/relationships" id="270" r:id="Rff65315bedd94041"/>
    <p:sldId xmlns:r="http://schemas.openxmlformats.org/officeDocument/2006/relationships" id="271" r:id="R99f990a257f04707"/>
    <p:sldId xmlns:r="http://schemas.openxmlformats.org/officeDocument/2006/relationships" id="272" r:id="Re7b3958a68804ce9"/>
    <p:sldId xmlns:r="http://schemas.openxmlformats.org/officeDocument/2006/relationships" id="273" r:id="Rcc902c7f96894eb4"/>
    <p:sldId xmlns:r="http://schemas.openxmlformats.org/officeDocument/2006/relationships" id="274" r:id="R764c1b79c8e34085"/>
    <p:sldId xmlns:r="http://schemas.openxmlformats.org/officeDocument/2006/relationships" id="275" r:id="Re2ad0a5163be46ce"/>
    <p:sldId xmlns:r="http://schemas.openxmlformats.org/officeDocument/2006/relationships" id="276" r:id="R461bf847c62b4335"/>
    <p:sldId xmlns:r="http://schemas.openxmlformats.org/officeDocument/2006/relationships" id="277" r:id="Rfa0bb16cb7b04825"/>
    <p:sldId xmlns:r="http://schemas.openxmlformats.org/officeDocument/2006/relationships" id="278" r:id="Rd9af46f807144c79"/>
    <p:sldId xmlns:r="http://schemas.openxmlformats.org/officeDocument/2006/relationships" id="279" r:id="R59f7a7f01cd643fc"/>
    <p:sldId xmlns:r="http://schemas.openxmlformats.org/officeDocument/2006/relationships" id="280" r:id="R2bb1898df27d470e"/>
    <p:sldId xmlns:r="http://schemas.openxmlformats.org/officeDocument/2006/relationships" id="281" r:id="R82071a211fe34ce4"/>
    <p:sldId xmlns:r="http://schemas.openxmlformats.org/officeDocument/2006/relationships" id="282" r:id="R9df862245c1643f7"/>
    <p:sldId xmlns:r="http://schemas.openxmlformats.org/officeDocument/2006/relationships" id="283" r:id="Rb003dc564941450b"/>
    <p:sldId xmlns:r="http://schemas.openxmlformats.org/officeDocument/2006/relationships" id="284" r:id="R5b2d6acc59614687"/>
    <p:sldId xmlns:r="http://schemas.openxmlformats.org/officeDocument/2006/relationships" id="285" r:id="R50d51de2ea9342e0"/>
    <p:sldId xmlns:r="http://schemas.openxmlformats.org/officeDocument/2006/relationships" id="286" r:id="R38f8d0deeae74105"/>
    <p:sldId xmlns:r="http://schemas.openxmlformats.org/officeDocument/2006/relationships" id="287" r:id="Rc00dcd04bc664b29"/>
    <p:sldId xmlns:r="http://schemas.openxmlformats.org/officeDocument/2006/relationships" id="288" r:id="Ra90ec8b62ea64a2d"/>
    <p:sldId xmlns:r="http://schemas.openxmlformats.org/officeDocument/2006/relationships" id="289" r:id="R3c5bc0d5a6a348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b4fd820e004f76" /><Relationship Type="http://schemas.openxmlformats.org/officeDocument/2006/relationships/slideMaster" Target="/ppt/slideMasters/slideMaster1.xml" Id="R648a4c97f9d7469f" /><Relationship Type="http://schemas.openxmlformats.org/officeDocument/2006/relationships/notesMaster" Target="/ppt/notesMasters/notesMaster1.xml" Id="R37b0853d36b74529" /><Relationship Type="http://schemas.openxmlformats.org/officeDocument/2006/relationships/presProps" Target="/ppt/presProps.xml" Id="Rec0430bdcc5644d7" /><Relationship Type="http://schemas.openxmlformats.org/officeDocument/2006/relationships/tableStyles" Target="/ppt/tableStyles.xml" Id="Rb705d67942444b60" /><Relationship Type="http://schemas.openxmlformats.org/officeDocument/2006/relationships/slide" Target="/ppt/slides/slide1.xml" Id="R72ee5b02656a4c0d" /><Relationship Type="http://schemas.openxmlformats.org/officeDocument/2006/relationships/slide" Target="/ppt/slides/slide2.xml" Id="Rf9f6d78169b54947" /><Relationship Type="http://schemas.openxmlformats.org/officeDocument/2006/relationships/slide" Target="/ppt/slides/slide3.xml" Id="Rd75ec5d65ee0414b" /><Relationship Type="http://schemas.openxmlformats.org/officeDocument/2006/relationships/slide" Target="/ppt/slides/slide4.xml" Id="Rc9a28a21215a41d5" /><Relationship Type="http://schemas.openxmlformats.org/officeDocument/2006/relationships/slide" Target="/ppt/slides/slide5.xml" Id="R7df113ca88744dd8" /><Relationship Type="http://schemas.openxmlformats.org/officeDocument/2006/relationships/slide" Target="/ppt/slides/slide6.xml" Id="R1d2d0cdfe76b4c94" /><Relationship Type="http://schemas.openxmlformats.org/officeDocument/2006/relationships/slide" Target="/ppt/slides/slide7.xml" Id="Re327e2160fd84cbd" /><Relationship Type="http://schemas.openxmlformats.org/officeDocument/2006/relationships/slide" Target="/ppt/slides/slide8.xml" Id="Rc02fd5b1617d4679" /><Relationship Type="http://schemas.openxmlformats.org/officeDocument/2006/relationships/slide" Target="/ppt/slides/slide9.xml" Id="R4fcbbb3fdbf74984" /><Relationship Type="http://schemas.openxmlformats.org/officeDocument/2006/relationships/slide" Target="/ppt/slides/slide10.xml" Id="R20c96956e07f4136" /><Relationship Type="http://schemas.openxmlformats.org/officeDocument/2006/relationships/slide" Target="/ppt/slides/slide11.xml" Id="R7db8e70a835a4524" /><Relationship Type="http://schemas.openxmlformats.org/officeDocument/2006/relationships/slide" Target="/ppt/slides/slide12.xml" Id="R8fe631a43ba148f7" /><Relationship Type="http://schemas.openxmlformats.org/officeDocument/2006/relationships/slide" Target="/ppt/slides/slide13.xml" Id="Ra63427a6dbd948b8" /><Relationship Type="http://schemas.openxmlformats.org/officeDocument/2006/relationships/slide" Target="/ppt/slides/slide14.xml" Id="Rde596fd19b5842e8" /><Relationship Type="http://schemas.openxmlformats.org/officeDocument/2006/relationships/slide" Target="/ppt/slides/slide15.xml" Id="Rff65315bedd94041" /><Relationship Type="http://schemas.openxmlformats.org/officeDocument/2006/relationships/slide" Target="/ppt/slides/slide16.xml" Id="R99f990a257f04707" /><Relationship Type="http://schemas.openxmlformats.org/officeDocument/2006/relationships/slide" Target="/ppt/slides/slide17.xml" Id="Re7b3958a68804ce9" /><Relationship Type="http://schemas.openxmlformats.org/officeDocument/2006/relationships/slide" Target="/ppt/slides/slide18.xml" Id="Rcc902c7f96894eb4" /><Relationship Type="http://schemas.openxmlformats.org/officeDocument/2006/relationships/slide" Target="/ppt/slides/slide19.xml" Id="R764c1b79c8e34085" /><Relationship Type="http://schemas.openxmlformats.org/officeDocument/2006/relationships/slide" Target="/ppt/slides/slide20.xml" Id="Re2ad0a5163be46ce" /><Relationship Type="http://schemas.openxmlformats.org/officeDocument/2006/relationships/slide" Target="/ppt/slides/slide21.xml" Id="R461bf847c62b4335" /><Relationship Type="http://schemas.openxmlformats.org/officeDocument/2006/relationships/slide" Target="/ppt/slides/slide22.xml" Id="Rfa0bb16cb7b04825" /><Relationship Type="http://schemas.openxmlformats.org/officeDocument/2006/relationships/slide" Target="/ppt/slides/slide23.xml" Id="Rd9af46f807144c79" /><Relationship Type="http://schemas.openxmlformats.org/officeDocument/2006/relationships/slide" Target="/ppt/slides/slide24.xml" Id="R59f7a7f01cd643fc" /><Relationship Type="http://schemas.openxmlformats.org/officeDocument/2006/relationships/slide" Target="/ppt/slides/slide25.xml" Id="R2bb1898df27d470e" /><Relationship Type="http://schemas.openxmlformats.org/officeDocument/2006/relationships/slide" Target="/ppt/slides/slide26.xml" Id="R82071a211fe34ce4" /><Relationship Type="http://schemas.openxmlformats.org/officeDocument/2006/relationships/slide" Target="/ppt/slides/slide27.xml" Id="R9df862245c1643f7" /><Relationship Type="http://schemas.openxmlformats.org/officeDocument/2006/relationships/slide" Target="/ppt/slides/slide28.xml" Id="Rb003dc564941450b" /><Relationship Type="http://schemas.openxmlformats.org/officeDocument/2006/relationships/slide" Target="/ppt/slides/slide29.xml" Id="R5b2d6acc59614687" /><Relationship Type="http://schemas.openxmlformats.org/officeDocument/2006/relationships/slide" Target="/ppt/slides/slide30.xml" Id="R50d51de2ea9342e0" /><Relationship Type="http://schemas.openxmlformats.org/officeDocument/2006/relationships/slide" Target="/ppt/slides/slide31.xml" Id="R38f8d0deeae74105" /><Relationship Type="http://schemas.openxmlformats.org/officeDocument/2006/relationships/slide" Target="/ppt/slides/slide32.xml" Id="Rc00dcd04bc664b29" /><Relationship Type="http://schemas.openxmlformats.org/officeDocument/2006/relationships/slide" Target="/ppt/slides/slide33.xml" Id="Ra90ec8b62ea64a2d" /><Relationship Type="http://schemas.openxmlformats.org/officeDocument/2006/relationships/slide" Target="/ppt/slides/slide34.xml" Id="R3c5bc0d5a6a348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5a304b8ed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d3146586354298" /><Relationship Type="http://schemas.openxmlformats.org/officeDocument/2006/relationships/notesMaster" Target="/ppt/notesMasters/notesMaster1.xml" Id="R43dd5c73e233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a26c0d64944ad" /><Relationship Type="http://schemas.openxmlformats.org/officeDocument/2006/relationships/notesMaster" Target="/ppt/notesMasters/notesMaster1.xml" Id="Rb9829a5b90ed4d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43c0a24b54e36" /><Relationship Type="http://schemas.openxmlformats.org/officeDocument/2006/relationships/notesMaster" Target="/ppt/notesMasters/notesMaster1.xml" Id="Rdac9e42ddbaa4e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685d23ec7441a" /><Relationship Type="http://schemas.openxmlformats.org/officeDocument/2006/relationships/notesMaster" Target="/ppt/notesMasters/notesMaster1.xml" Id="Rc5aaf8b957b342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41029bcdf4b24" /><Relationship Type="http://schemas.openxmlformats.org/officeDocument/2006/relationships/notesMaster" Target="/ppt/notesMasters/notesMaster1.xml" Id="Rd6ea487c0e9741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2af1eb74854f23" /><Relationship Type="http://schemas.openxmlformats.org/officeDocument/2006/relationships/notesMaster" Target="/ppt/notesMasters/notesMaster1.xml" Id="R34bc5a60e151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428ddc01a44f4d" /><Relationship Type="http://schemas.openxmlformats.org/officeDocument/2006/relationships/notesMaster" Target="/ppt/notesMasters/notesMaster1.xml" Id="R68b866b31526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5214d75ff4b04" /><Relationship Type="http://schemas.openxmlformats.org/officeDocument/2006/relationships/notesMaster" Target="/ppt/notesMasters/notesMaster1.xml" Id="Rdbe57ebb928a44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9becaa1a124d6f" /><Relationship Type="http://schemas.openxmlformats.org/officeDocument/2006/relationships/notesMaster" Target="/ppt/notesMasters/notesMaster1.xml" Id="R7937006949f548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94d274404c467e" /><Relationship Type="http://schemas.openxmlformats.org/officeDocument/2006/relationships/notesMaster" Target="/ppt/notesMasters/notesMaster1.xml" Id="R8418991ae17849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d82e9bc0444975" /><Relationship Type="http://schemas.openxmlformats.org/officeDocument/2006/relationships/notesMaster" Target="/ppt/notesMasters/notesMaster1.xml" Id="R8b94672e97b242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c9cb88c1c6448e" /><Relationship Type="http://schemas.openxmlformats.org/officeDocument/2006/relationships/notesMaster" Target="/ppt/notesMasters/notesMaster1.xml" Id="Radcb99abaf9149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544b5821404216" /><Relationship Type="http://schemas.openxmlformats.org/officeDocument/2006/relationships/notesMaster" Target="/ppt/notesMasters/notesMaster1.xml" Id="R5bc5adcb2f3f41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2d0496a6244b06" /><Relationship Type="http://schemas.openxmlformats.org/officeDocument/2006/relationships/notesMaster" Target="/ppt/notesMasters/notesMaster1.xml" Id="R8a5ae50bda4e4d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9023a6f9144979" /><Relationship Type="http://schemas.openxmlformats.org/officeDocument/2006/relationships/notesMaster" Target="/ppt/notesMasters/notesMaster1.xml" Id="Recde0eb28f4c49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73912ce2324e94" /><Relationship Type="http://schemas.openxmlformats.org/officeDocument/2006/relationships/notesMaster" Target="/ppt/notesMasters/notesMaster1.xml" Id="R5a818ac2107e49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7311a4537d4f2d" /><Relationship Type="http://schemas.openxmlformats.org/officeDocument/2006/relationships/notesMaster" Target="/ppt/notesMasters/notesMaster1.xml" Id="R16ede99749e54e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02887da2cd4599" /><Relationship Type="http://schemas.openxmlformats.org/officeDocument/2006/relationships/notesMaster" Target="/ppt/notesMasters/notesMaster1.xml" Id="R90233c83acc648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101e27c51849a5" /><Relationship Type="http://schemas.openxmlformats.org/officeDocument/2006/relationships/notesMaster" Target="/ppt/notesMasters/notesMaster1.xml" Id="R49d66a78d0af4b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039684564e45ae" /><Relationship Type="http://schemas.openxmlformats.org/officeDocument/2006/relationships/notesMaster" Target="/ppt/notesMasters/notesMaster1.xml" Id="Rd14377a0d56c47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27e6faec074ea8" /><Relationship Type="http://schemas.openxmlformats.org/officeDocument/2006/relationships/notesMaster" Target="/ppt/notesMasters/notesMaster1.xml" Id="Rcb1b80564b2d4a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9f8b00596534123" /><Relationship Type="http://schemas.openxmlformats.org/officeDocument/2006/relationships/notesMaster" Target="/ppt/notesMasters/notesMaster1.xml" Id="Rbdd95772b12b4d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7321d6dc0b4c37" /><Relationship Type="http://schemas.openxmlformats.org/officeDocument/2006/relationships/notesMaster" Target="/ppt/notesMasters/notesMaster1.xml" Id="Rb2519d4aa73946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62958ae5244a94" /><Relationship Type="http://schemas.openxmlformats.org/officeDocument/2006/relationships/notesMaster" Target="/ppt/notesMasters/notesMaster1.xml" Id="R48ba2e29babf440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20aa95cd06403a" /><Relationship Type="http://schemas.openxmlformats.org/officeDocument/2006/relationships/notesMaster" Target="/ppt/notesMasters/notesMaster1.xml" Id="R9aa4172362924d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c257b218ea4458" /><Relationship Type="http://schemas.openxmlformats.org/officeDocument/2006/relationships/notesMaster" Target="/ppt/notesMasters/notesMaster1.xml" Id="R42b4a597873844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acfc93a0f84d8a" /><Relationship Type="http://schemas.openxmlformats.org/officeDocument/2006/relationships/notesMaster" Target="/ppt/notesMasters/notesMaster1.xml" Id="Rb45bf726d61e4a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fb18de711b4fd2" /><Relationship Type="http://schemas.openxmlformats.org/officeDocument/2006/relationships/notesMaster" Target="/ppt/notesMasters/notesMaster1.xml" Id="Rc451eaa42f794b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df081c158e4646" /><Relationship Type="http://schemas.openxmlformats.org/officeDocument/2006/relationships/notesMaster" Target="/ppt/notesMasters/notesMaster1.xml" Id="R857c924df5fe4b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3b7c92b3b64bcd" /><Relationship Type="http://schemas.openxmlformats.org/officeDocument/2006/relationships/notesMaster" Target="/ppt/notesMasters/notesMaster1.xml" Id="Rd13603d38d0142b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95ecd5a09c414b" /><Relationship Type="http://schemas.openxmlformats.org/officeDocument/2006/relationships/notesMaster" Target="/ppt/notesMasters/notesMaster1.xml" Id="R2f119138466e4a4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8ec267acca94e56" /><Relationship Type="http://schemas.openxmlformats.org/officeDocument/2006/relationships/notesMaster" Target="/ppt/notesMasters/notesMaster1.xml" Id="Rd0259382070b429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5ff7af330a0451a" /><Relationship Type="http://schemas.openxmlformats.org/officeDocument/2006/relationships/notesMaster" Target="/ppt/notesMasters/notesMaster1.xml" Id="R1cb0c26f03f744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1d311c75ae442b8" /><Relationship Type="http://schemas.openxmlformats.org/officeDocument/2006/relationships/notesMaster" Target="/ppt/notesMasters/notesMaster1.xml" Id="Rfa3742e558fa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public/images/nwssu-cpe-logo.png</a:t>
            </a:r>
          </a:p>
          <a:p xmlns:a="http://schemas.openxmlformats.org/drawingml/2006/main">
            <a:r>
              <a:t>- public/images/nwssu-cpe-hero.jpg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src/pages/Home.jsx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src/pages/AdminDashboard.jsx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src/components/Navbar.jsx</a:t>
            </a:r>
          </a:p>
          <a:p xmlns:a="http://schemas.openxmlformats.org/drawingml/2006/main">
            <a:r>
              <a:t>- src/pages/AdminDashboard.jsx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src/pages/Home.jsx</a:t>
            </a:r>
          </a:p>
          <a:p xmlns:a="http://schemas.openxmlformats.org/drawingml/2006/main">
            <a:r>
              <a:t>- src/components/Navbar.jsx</a:t>
            </a:r>
          </a:p>
          <a:p xmlns:a="http://schemas.openxmlformats.org/drawingml/2006/main">
            <a:r>
              <a:t>- public/images/nwssu-cpe-hero.jpg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src/components/Navbar.jsx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src/hooks/useMotionPreferences.js</a:t>
            </a:r>
          </a:p>
          <a:p xmlns:a="http://schemas.openxmlformats.org/drawingml/2006/main">
            <a:r>
              <a:t>- src/lib/motion.js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src/pages/Announcements.jsx</a:t>
            </a:r>
          </a:p>
          <a:p xmlns:a="http://schemas.openxmlformats.org/drawingml/2006/main">
            <a:r>
              <a:t>- src/pages/AnnouncementDetails.jsx</a:t>
            </a:r>
          </a:p>
          <a:p xmlns:a="http://schemas.openxmlformats.org/drawingml/2006/main">
            <a:r>
              <a:t>- src/data/announcements.js</a:t>
            </a:r>
          </a:p>
          <a:p xmlns:a="http://schemas.openxmlformats.org/drawingml/2006/main">
            <a:r>
              <a:t>- src/components/NotificationPopup.jsx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src/pages/Gallery.jsx</a:t>
            </a:r>
          </a:p>
          <a:p xmlns:a="http://schemas.openxmlformats.org/drawingml/2006/main">
            <a:r>
              <a:t>- src/pages/NewsDetails.jsx</a:t>
            </a:r>
          </a:p>
          <a:p xmlns:a="http://schemas.openxmlformats.org/drawingml/2006/main">
            <a:r>
              <a:t>- src/components/AdminMedia.jsx</a:t>
            </a:r>
          </a:p>
          <a:p xmlns:a="http://schemas.openxmlformats.org/drawingml/2006/main">
            <a:r>
              <a:t>- src/pages/Home.jsx</a:t>
            </a:r>
          </a:p>
          <a:p xmlns:a="http://schemas.openxmlformats.org/drawingml/2006/main">
            <a:r>
              <a:t>- public/images/ce-campus-hero.jpg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src/components/PhotoCropEditor.jsx</a:t>
            </a:r>
          </a:p>
          <a:p xmlns:a="http://schemas.openxmlformats.org/drawingml/2006/main">
            <a:r>
              <a:t>- src/components/PublishedPhotoPreview.jsx</a:t>
            </a:r>
          </a:p>
          <a:p xmlns:a="http://schemas.openxmlformats.org/drawingml/2006/main">
            <a:r>
              <a:t>- src/components/AdminMedia.jsx</a:t>
            </a:r>
          </a:p>
          <a:p xmlns:a="http://schemas.openxmlformats.org/drawingml/2006/main">
            <a:r>
              <a:t>- src/pages/Events.jsx</a:t>
            </a:r>
          </a:p>
          <a:p xmlns:a="http://schemas.openxmlformats.org/drawingml/2006/main">
            <a:r>
              <a:t>- src/pages/NewsDetails.jsx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src/pages/Events.jsx</a:t>
            </a:r>
          </a:p>
          <a:p xmlns:a="http://schemas.openxmlformats.org/drawingml/2006/main">
            <a:r>
              <a:t>- src/components/AdminEvents.jsx</a:t>
            </a:r>
          </a:p>
          <a:p xmlns:a="http://schemas.openxmlformats.org/drawingml/2006/main">
            <a:r>
              <a:t>- src/components/PublishedPhotoPreview.jsx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src/components/NewsReactionSummary.jsx</a:t>
            </a:r>
          </a:p>
          <a:p xmlns:a="http://schemas.openxmlformats.org/drawingml/2006/main">
            <a:r>
              <a:t>- src/components/NotificationPopup.jsx</a:t>
            </a:r>
          </a:p>
          <a:p xmlns:a="http://schemas.openxmlformats.org/drawingml/2006/main">
            <a:r>
              <a:t>- src/pages/NewsDetails.jsx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src/pages/StudentPortal.jsx</a:t>
            </a:r>
          </a:p>
          <a:p xmlns:a="http://schemas.openxmlformats.org/drawingml/2006/main">
            <a:r>
              <a:t>- src/data/resources.js</a:t>
            </a:r>
          </a:p>
          <a:p xmlns:a="http://schemas.openxmlformats.org/drawingml/2006/main">
            <a:r>
              <a:t>- src/components/ApprovedOnly.jsx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src/pages/StudentPortal.jsx</a:t>
            </a:r>
          </a:p>
          <a:p xmlns:a="http://schemas.openxmlformats.org/drawingml/2006/main">
            <a:r>
              <a:t>- src/data/resources.js</a:t>
            </a:r>
          </a:p>
          <a:p xmlns:a="http://schemas.openxmlformats.org/drawingml/2006/main">
            <a:r>
              <a:t>- src/lib/storage.js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src/pages/StudentPortal.jsx</a:t>
            </a:r>
          </a:p>
          <a:p xmlns:a="http://schemas.openxmlformats.org/drawingml/2006/main">
            <a:r>
              <a:t>- src/data/yearLevels.js</a:t>
            </a:r>
          </a:p>
          <a:p xmlns:a="http://schemas.openxmlformats.org/drawingml/2006/main">
            <a:r>
              <a:t>- src/data/curriculum.js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src/pages/Alumni.jsx</a:t>
            </a:r>
          </a:p>
          <a:p xmlns:a="http://schemas.openxmlformats.org/drawingml/2006/main">
            <a:r>
              <a:t>- src/components/AdminAlumni.jsx</a:t>
            </a:r>
          </a:p>
          <a:p xmlns:a="http://schemas.openxmlformats.org/drawingml/2006/main">
            <a:r>
              <a:t>- public/images/samples/person-blue.svg</a:t>
            </a:r>
          </a:p>
          <a:p xmlns:a="http://schemas.openxmlformats.org/drawingml/2006/main">
            <a:r>
              <a:t>- public/images/samples/person-emerald.svg</a:t>
            </a:r>
          </a:p>
          <a:p xmlns:a="http://schemas.openxmlformats.org/drawingml/2006/main">
            <a:r>
              <a:t>- public/images/samples/person-orange.svg</a:t>
            </a:r>
          </a:p>
          <a:p xmlns:a="http://schemas.openxmlformats.org/drawingml/2006/main">
            <a:r>
              <a:t>- public/images/samples/person-violet.svg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src/pages/Alumni.jsx</a:t>
            </a:r>
          </a:p>
          <a:p xmlns:a="http://schemas.openxmlformats.org/drawingml/2006/main">
            <a:r>
              <a:t>- src/components/AdminAlumni.jsx</a:t>
            </a:r>
          </a:p>
          <a:p xmlns:a="http://schemas.openxmlformats.org/drawingml/2006/main">
            <a:r>
              <a:t>- supabase/alumni.sql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src/pages/About.jsx</a:t>
            </a:r>
          </a:p>
          <a:p xmlns:a="http://schemas.openxmlformats.org/drawingml/2006/main">
            <a:r>
              <a:t>- src/components/AdminOrganization.jsx</a:t>
            </a:r>
          </a:p>
          <a:p xmlns:a="http://schemas.openxmlformats.org/drawingml/2006/main">
            <a:r>
              <a:t>- src/components/PhotoCropEditor.jsx</a:t>
            </a:r>
          </a:p>
          <a:p xmlns:a="http://schemas.openxmlformats.org/drawingml/2006/main">
            <a:r>
              <a:t>- src/components/PublishedPhotoPreview.jsx</a:t>
            </a:r>
          </a:p>
          <a:p xmlns:a="http://schemas.openxmlformats.org/drawingml/2006/main">
            <a:r>
              <a:t>- public/images/ce-campus-hero.jpg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src/pages/InternalAudit.jsx</a:t>
            </a:r>
          </a:p>
          <a:p xmlns:a="http://schemas.openxmlformats.org/drawingml/2006/main">
            <a:r>
              <a:t>- src/data/internalAudit.js</a:t>
            </a:r>
          </a:p>
          <a:p xmlns:a="http://schemas.openxmlformats.org/drawingml/2006/main">
            <a:r>
              <a:t>- src/components/AdminInternalAudit.jsx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src/pages/Community.jsx</a:t>
            </a:r>
          </a:p>
          <a:p xmlns:a="http://schemas.openxmlformats.org/drawingml/2006/main">
            <a:r>
              <a:t>- src/components/CommunityLauncher.jsx</a:t>
            </a:r>
          </a:p>
          <a:p xmlns:a="http://schemas.openxmlformats.org/drawingml/2006/main">
            <a:r>
              <a:t>- src/lib/communityChat.js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src/pages/Community.jsx</a:t>
            </a:r>
          </a:p>
          <a:p xmlns:a="http://schemas.openxmlformats.org/drawingml/2006/main">
            <a:r>
              <a:t>- src/lib/communityChat.js</a:t>
            </a:r>
          </a:p>
          <a:p xmlns:a="http://schemas.openxmlformats.org/drawingml/2006/main">
            <a:r>
              <a:t>- src/components/MessageComposer.jsx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src/components/AdminRoute.jsx</a:t>
            </a:r>
          </a:p>
          <a:p xmlns:a="http://schemas.openxmlformats.org/drawingml/2006/main">
            <a:r>
              <a:t>- src/pages/AdminDashboard.jsx</a:t>
            </a:r>
          </a:p>
          <a:p xmlns:a="http://schemas.openxmlformats.org/drawingml/2006/main">
            <a:r>
              <a:t>- supabase/migrations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src/data/yearLevels.js</a:t>
            </a:r>
          </a:p>
          <a:p xmlns:a="http://schemas.openxmlformats.org/drawingml/2006/main">
            <a:r>
              <a:t>- src/lib/auth.js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src/components/AdminUsers.jsx</a:t>
            </a:r>
          </a:p>
          <a:p xmlns:a="http://schemas.openxmlformats.org/drawingml/2006/main">
            <a:r>
              <a:t>- src/pages/AdminDashboard.jsx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src/components/ProfileAvatar.jsx</a:t>
            </a:r>
          </a:p>
          <a:p xmlns:a="http://schemas.openxmlformats.org/drawingml/2006/main">
            <a:r>
              <a:t>- src/components/Navbar.jsx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src/pages/AdminDashboard.jsx</a:t>
            </a:r>
          </a:p>
          <a:p xmlns:a="http://schemas.openxmlformats.org/drawingml/2006/main">
            <a:r>
              <a:t>- src/components/AdminRoute.jsx</a:t>
            </a:r>
          </a:p>
          <a:p xmlns:a="http://schemas.openxmlformats.org/drawingml/2006/main">
            <a:r>
              <a:t>- src/components/AdminActivityCenter.jsx</a:t>
            </a:r>
          </a:p>
          <a:p xmlns:a="http://schemas.openxmlformats.org/drawingml/2006/main">
            <a:r>
              <a:t>- src/components/AdminAnalyticsPanel.jsx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src/pages/AdminDashboard.jsx</a:t>
            </a:r>
          </a:p>
          <a:p xmlns:a="http://schemas.openxmlformats.org/drawingml/2006/main">
            <a:r>
              <a:t>- src/components/AdminAnnouncements.jsx</a:t>
            </a:r>
          </a:p>
          <a:p xmlns:a="http://schemas.openxmlformats.org/drawingml/2006/main">
            <a:r>
              <a:t>- src/components/AdminEvents.jsx</a:t>
            </a:r>
          </a:p>
          <a:p xmlns:a="http://schemas.openxmlformats.org/drawingml/2006/main">
            <a:r>
              <a:t>- src/components/AdminMedia.jsx</a:t>
            </a:r>
          </a:p>
          <a:p xmlns:a="http://schemas.openxmlformats.org/drawingml/2006/main">
            <a:r>
              <a:t>- src/components/AdminOrganization.jsx</a:t>
            </a:r>
          </a:p>
          <a:p xmlns:a="http://schemas.openxmlformats.org/drawingml/2006/main">
            <a:r>
              <a:t>- src/components/AdminAlumni.jsx</a:t>
            </a:r>
          </a:p>
          <a:p xmlns:a="http://schemas.openxmlformats.org/drawingml/2006/main">
            <a:r>
              <a:t>- src/components/AdminInternalAudit.jsx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src/components/PhotoCropEditor.jsx</a:t>
            </a:r>
          </a:p>
          <a:p xmlns:a="http://schemas.openxmlformats.org/drawingml/2006/main">
            <a:r>
              <a:t>- src/components/PublishedPhotoPreview.jsx</a:t>
            </a:r>
          </a:p>
          <a:p xmlns:a="http://schemas.openxmlformats.org/drawingml/2006/main">
            <a:r>
              <a:t>- src/components/AdminMedia.jsx</a:t>
            </a:r>
          </a:p>
          <a:p xmlns:a="http://schemas.openxmlformats.org/drawingml/2006/main">
            <a:r>
              <a:t>- src/components/AdminEvents.jsx</a:t>
            </a:r>
          </a:p>
          <a:p xmlns:a="http://schemas.openxmlformats.org/drawingml/2006/main">
            <a:r>
              <a:t>- src/components/AdminOrganization.jsx</a:t>
            </a:r>
          </a:p>
          <a:p xmlns:a="http://schemas.openxmlformats.org/drawingml/2006/main">
            <a:r>
              <a:t>- src/components/AdminAlumni.jsx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src/components/AdminOrganization.jsx</a:t>
            </a:r>
          </a:p>
          <a:p xmlns:a="http://schemas.openxmlformats.org/drawingml/2006/main">
            <a:r>
              <a:t>- src/components/AdminAlumni.jsx</a:t>
            </a:r>
          </a:p>
          <a:p xmlns:a="http://schemas.openxmlformats.org/drawingml/2006/main">
            <a:r>
              <a:t>- src/components/PhotoCropEditor.jsx</a:t>
            </a:r>
          </a:p>
          <a:p xmlns:a="http://schemas.openxmlformats.org/drawingml/2006/main">
            <a:r>
              <a:t>- src/components/PublishedPhotoPreview.jsx</a:t>
            </a:r>
          </a:p>
          <a:p xmlns:a="http://schemas.openxmlformats.org/drawingml/2006/main">
            <a:r>
              <a:t>- supabase/alumni.sql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src/components/AdminResources.jsx</a:t>
            </a:r>
          </a:p>
          <a:p xmlns:a="http://schemas.openxmlformats.org/drawingml/2006/main">
            <a:r>
              <a:t>- src/components/AdminInternalAudit.jsx</a:t>
            </a:r>
          </a:p>
          <a:p xmlns:a="http://schemas.openxmlformats.org/drawingml/2006/main">
            <a:r>
              <a:t>- src/pages/StudentPortal.jsx</a:t>
            </a:r>
          </a:p>
          <a:p xmlns:a="http://schemas.openxmlformats.org/drawingml/2006/main">
            <a:r>
              <a:t>- src/pages/InternalAudit.jsx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src/components/AdminUsers.jsx</a:t>
            </a:r>
          </a:p>
          <a:p xmlns:a="http://schemas.openxmlformats.org/drawingml/2006/main">
            <a:r>
              <a:t>- src/components/AdminTeam.jsx</a:t>
            </a:r>
          </a:p>
          <a:p xmlns:a="http://schemas.openxmlformats.org/drawingml/2006/main">
            <a:r>
              <a:t>- src/pages/AdminDashboard.jsx</a:t>
            </a:r>
          </a:p>
          <a:p xmlns:a="http://schemas.openxmlformats.org/drawingml/2006/main">
            <a:r>
              <a:t>- src/components/AdminRoute.jsx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src/index.css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src/hooks/useMotionPreferences.js</a:t>
            </a:r>
          </a:p>
          <a:p xmlns:a="http://schemas.openxmlformats.org/drawingml/2006/main">
            <a:r>
              <a:t>- src/components/ThemeToggle.jsx</a:t>
            </a:r>
          </a:p>
          <a:p xmlns:a="http://schemas.openxmlformats.org/drawingml/2006/main">
            <a:r>
              <a:t>- src/components/ProfileAvatar.jsx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src/components/PixelPals.jsx</a:t>
            </a:r>
          </a:p>
          <a:p xmlns:a="http://schemas.openxmlformats.org/drawingml/2006/main">
            <a:r>
              <a:t>- src/components/RobotEasterEgg.jsx</a:t>
            </a:r>
          </a:p>
          <a:p xmlns:a="http://schemas.openxmlformats.org/drawingml/2006/main">
            <a:r>
              <a:t>- src/components/RobotParade.jsx</a:t>
            </a:r>
          </a:p>
          <a:p xmlns:a="http://schemas.openxmlformats.org/drawingml/2006/main">
            <a:r>
              <a:t>- src/components/NotificationPopup.jsx</a:t>
            </a:r>
          </a:p>
          <a:p xmlns:a="http://schemas.openxmlformats.org/drawingml/2006/main">
            <a:r>
              <a:t>- src/hooks/useMotionPreferences.js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src/pages/Home.jsx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src/pages/StudentPortal.jsx</a:t>
            </a:r>
          </a:p>
          <a:p xmlns:a="http://schemas.openxmlformats.org/drawingml/2006/main">
            <a:r>
              <a:t>- src/pages/Community.jsx</a:t>
            </a:r>
          </a:p>
          <a:p xmlns:a="http://schemas.openxmlformats.org/drawingml/2006/main">
            <a:r>
              <a:t>- src/components/Navbar.jsx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src/pages/AdminDashboard.jsx</a:t>
            </a:r>
          </a:p>
          <a:p xmlns:a="http://schemas.openxmlformats.org/drawingml/2006/main">
            <a:r>
              <a:t>- src/components/AdminMedia.jsx</a:t>
            </a:r>
          </a:p>
          <a:p xmlns:a="http://schemas.openxmlformats.org/drawingml/2006/main">
            <a:r>
              <a:t>- src/components/AdminEvents.jsx</a:t>
            </a:r>
          </a:p>
          <a:p xmlns:a="http://schemas.openxmlformats.org/drawingml/2006/main">
            <a:r>
              <a:t>- src/components/AdminOrganization.jsx</a:t>
            </a:r>
          </a:p>
          <a:p xmlns:a="http://schemas.openxmlformats.org/drawingml/2006/main">
            <a:r>
              <a:t>- src/components/AdminInternalAudit.jsx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This slide describes the current ICpEP Connect experience.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src/pages/Account.jsx</a:t>
            </a:r>
          </a:p>
          <a:p xmlns:a="http://schemas.openxmlformats.org/drawingml/2006/main">
            <a:r>
              <a:t>- src/pages/AdminDashboard.jsx</a:t>
            </a:r>
          </a:p>
          <a:p xmlns:a="http://schemas.openxmlformats.org/drawingml/2006/main">
            <a:r>
              <a:t>- src/components/Navbar.jsx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fd8aa2572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110c27a0614f86" /><Relationship Type="http://schemas.openxmlformats.org/officeDocument/2006/relationships/slideLayout" Target="/ppt/slideLayouts/slideLayout1.xml" Id="R4d6e10a26aa3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6e10a26aa3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bdef28d44090" /><Relationship Type="http://schemas.openxmlformats.org/officeDocument/2006/relationships/image" Target="/ppt/media/image.jpeg" Id="Rf0ee68e4ac104e80" /><Relationship Type="http://schemas.openxmlformats.org/officeDocument/2006/relationships/image" Target="/ppt/media/image2.jpeg" Id="R29532cfbb8624ee2" /><Relationship Type="http://schemas.openxmlformats.org/officeDocument/2006/relationships/image" Target="/ppt/media/image.png" Id="R6515beb22af7431d" /><Relationship Type="http://schemas.openxmlformats.org/officeDocument/2006/relationships/notesSlide" Target="/ppt/notesSlides/notesSlide1.xml" Id="R98cced7c39f04f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c5f44130b4575" /><Relationship Type="http://schemas.openxmlformats.org/officeDocument/2006/relationships/notesSlide" Target="/ppt/notesSlides/notesSlide2.xml" Id="R0509e70590d244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3b3e62e564e7c" /><Relationship Type="http://schemas.openxmlformats.org/officeDocument/2006/relationships/notesSlide" Target="/ppt/notesSlides/notesSlide3.xml" Id="R415d547b4f57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49b1f5bcf4217" /><Relationship Type="http://schemas.openxmlformats.org/officeDocument/2006/relationships/image" Target="/ppt/media/image3.jpeg" Id="Re745e0bd6de24701" /><Relationship Type="http://schemas.openxmlformats.org/officeDocument/2006/relationships/notesSlide" Target="/ppt/notesSlides/notesSlide4.xml" Id="Ra0c9c644a02b4a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fca7fa7f948fe" /><Relationship Type="http://schemas.openxmlformats.org/officeDocument/2006/relationships/image" Target="/ppt/media/image2.png" Id="Rabbd1d0f313649ae" /><Relationship Type="http://schemas.openxmlformats.org/officeDocument/2006/relationships/image" Target="/ppt/media/image3.png" Id="R79bab6e91928493b" /><Relationship Type="http://schemas.openxmlformats.org/officeDocument/2006/relationships/notesSlide" Target="/ppt/notesSlides/notesSlide5.xml" Id="Rc9f8fd0d51104d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dcbc80ebb4502" /><Relationship Type="http://schemas.openxmlformats.org/officeDocument/2006/relationships/notesSlide" Target="/ppt/notesSlides/notesSlide6.xml" Id="Rfcad496e789a49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e9b6d2b2b437d" /><Relationship Type="http://schemas.openxmlformats.org/officeDocument/2006/relationships/image" Target="/ppt/media/image4.jpeg" Id="R975518a6fb914463" /><Relationship Type="http://schemas.openxmlformats.org/officeDocument/2006/relationships/notesSlide" Target="/ppt/notesSlides/notesSlide7.xml" Id="Re5037a7130c744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ad546e0894cb4" /><Relationship Type="http://schemas.openxmlformats.org/officeDocument/2006/relationships/image" Target="/ppt/media/image5.jpeg" Id="R21df2c3987cb4de4" /><Relationship Type="http://schemas.openxmlformats.org/officeDocument/2006/relationships/image" Target="/ppt/media/image6.jpeg" Id="R1f8cb807c38a4bf2" /><Relationship Type="http://schemas.openxmlformats.org/officeDocument/2006/relationships/notesSlide" Target="/ppt/notesSlides/notesSlide8.xml" Id="R723e3fe2eec3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f05b413524afe" /><Relationship Type="http://schemas.openxmlformats.org/officeDocument/2006/relationships/notesSlide" Target="/ppt/notesSlides/notesSlide9.xml" Id="Raf53a458cf6a42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fc61bdbb749b6" /><Relationship Type="http://schemas.openxmlformats.org/officeDocument/2006/relationships/notesSlide" Target="/ppt/notesSlides/notesSlide10.xml" Id="R87d9d7bb69294c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7610114f64dce" /><Relationship Type="http://schemas.openxmlformats.org/officeDocument/2006/relationships/notesSlide" Target="/ppt/notesSlides/notesSlide11.xml" Id="Rbd6575abb03f4f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d581ae4194863" /><Relationship Type="http://schemas.openxmlformats.org/officeDocument/2006/relationships/notesSlide" Target="/ppt/notesSlides/notesSlide12.xml" Id="R1cd33740899446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0e1fc96d94b9e" /><Relationship Type="http://schemas.openxmlformats.org/officeDocument/2006/relationships/notesSlide" Target="/ppt/notesSlides/notesSlide13.xml" Id="R6308b7050fd94b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820e910cf467b" /><Relationship Type="http://schemas.openxmlformats.org/officeDocument/2006/relationships/image" Target="/ppt/media/image4.png" Id="Rc18b5d7fc8714972" /><Relationship Type="http://schemas.openxmlformats.org/officeDocument/2006/relationships/image" Target="/ppt/media/image.svg" Id="R3dfe2d6f68494f58" /><Relationship Type="http://schemas.openxmlformats.org/officeDocument/2006/relationships/image" Target="/ppt/media/image5.png" Id="R042d5c6ab500446e" /><Relationship Type="http://schemas.openxmlformats.org/officeDocument/2006/relationships/image" Target="/ppt/media/image2.svg" Id="Rc120e76fd779496b" /><Relationship Type="http://schemas.openxmlformats.org/officeDocument/2006/relationships/image" Target="/ppt/media/image6.png" Id="Rcd800c7ab90c4ebe" /><Relationship Type="http://schemas.openxmlformats.org/officeDocument/2006/relationships/image" Target="/ppt/media/image3.svg" Id="R00276f938a5a464e" /><Relationship Type="http://schemas.openxmlformats.org/officeDocument/2006/relationships/image" Target="/ppt/media/image7.png" Id="R39aef235dff64b21" /><Relationship Type="http://schemas.openxmlformats.org/officeDocument/2006/relationships/image" Target="/ppt/media/image4.svg" Id="Rb2a52fceef234c3f" /><Relationship Type="http://schemas.openxmlformats.org/officeDocument/2006/relationships/notesSlide" Target="/ppt/notesSlides/notesSlide14.xml" Id="Rccf50c9b596241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4a0a7fb64e2d" /><Relationship Type="http://schemas.openxmlformats.org/officeDocument/2006/relationships/image" Target="/ppt/media/image8.png" Id="Raeafe66b22774a67" /><Relationship Type="http://schemas.openxmlformats.org/officeDocument/2006/relationships/image" Target="/ppt/media/image5.svg" Id="R51ce8d5e0ea44f80" /><Relationship Type="http://schemas.openxmlformats.org/officeDocument/2006/relationships/notesSlide" Target="/ppt/notesSlides/notesSlide15.xml" Id="R3a33ce99776448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178b2f70d4abf" /><Relationship Type="http://schemas.openxmlformats.org/officeDocument/2006/relationships/image" Target="/ppt/media/image7.jpeg" Id="R7d81b39042964504" /><Relationship Type="http://schemas.openxmlformats.org/officeDocument/2006/relationships/notesSlide" Target="/ppt/notesSlides/notesSlide16.xml" Id="R79ae25518a8d4b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4fc01b1d34232" /><Relationship Type="http://schemas.openxmlformats.org/officeDocument/2006/relationships/notesSlide" Target="/ppt/notesSlides/notesSlide17.xml" Id="Re39aa4a94dee42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0f12662cc418b" /><Relationship Type="http://schemas.openxmlformats.org/officeDocument/2006/relationships/notesSlide" Target="/ppt/notesSlides/notesSlide18.xml" Id="Rdadeaefeefbb41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f5b6bdd8145f2" /><Relationship Type="http://schemas.openxmlformats.org/officeDocument/2006/relationships/notesSlide" Target="/ppt/notesSlides/notesSlide19.xml" Id="Re84c221bac9441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ed9840f724c8a" /><Relationship Type="http://schemas.openxmlformats.org/officeDocument/2006/relationships/notesSlide" Target="/ppt/notesSlides/notesSlide20.xml" Id="Rd9dc88d0d40746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455ac720247b1" /><Relationship Type="http://schemas.openxmlformats.org/officeDocument/2006/relationships/notesSlide" Target="/ppt/notesSlides/notesSlide21.xml" Id="R5bb116c75abc41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7428552814485" /><Relationship Type="http://schemas.openxmlformats.org/officeDocument/2006/relationships/notesSlide" Target="/ppt/notesSlides/notesSlide22.xml" Id="R0ca062831bf64f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c2548072c4c48" /><Relationship Type="http://schemas.openxmlformats.org/officeDocument/2006/relationships/notesSlide" Target="/ppt/notesSlides/notesSlide23.xml" Id="Rb0f06306fe4042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a4d3dc34f42c9" /><Relationship Type="http://schemas.openxmlformats.org/officeDocument/2006/relationships/notesSlide" Target="/ppt/notesSlides/notesSlide24.xml" Id="Rdc563622a2034d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080befe5c4b02" /><Relationship Type="http://schemas.openxmlformats.org/officeDocument/2006/relationships/notesSlide" Target="/ppt/notesSlides/notesSlide25.xml" Id="R36b8f9fcb58f43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8a93f4e6a4808" /><Relationship Type="http://schemas.openxmlformats.org/officeDocument/2006/relationships/notesSlide" Target="/ppt/notesSlides/notesSlide26.xml" Id="R747f907061bd41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6600af28f4ab1" /><Relationship Type="http://schemas.openxmlformats.org/officeDocument/2006/relationships/notesSlide" Target="/ppt/notesSlides/notesSlide27.xml" Id="R155c8abf02f24a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2ceb5d7704c55" /><Relationship Type="http://schemas.openxmlformats.org/officeDocument/2006/relationships/notesSlide" Target="/ppt/notesSlides/notesSlide28.xml" Id="Ra8dcfedf9df247d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da050602b46ac" /><Relationship Type="http://schemas.openxmlformats.org/officeDocument/2006/relationships/notesSlide" Target="/ppt/notesSlides/notesSlide29.xml" Id="Ra489c811ba2546d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83030845455b" /><Relationship Type="http://schemas.openxmlformats.org/officeDocument/2006/relationships/notesSlide" Target="/ppt/notesSlides/notesSlide30.xml" Id="R04570cb269eb405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4b2bbeffd49b1" /><Relationship Type="http://schemas.openxmlformats.org/officeDocument/2006/relationships/notesSlide" Target="/ppt/notesSlides/notesSlide31.xml" Id="Rdf20185060a54c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dca4fee564efd" /><Relationship Type="http://schemas.openxmlformats.org/officeDocument/2006/relationships/notesSlide" Target="/ppt/notesSlides/notesSlide32.xml" Id="R02bf963ad516466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a4c0fc8b644ad" /><Relationship Type="http://schemas.openxmlformats.org/officeDocument/2006/relationships/notesSlide" Target="/ppt/notesSlides/notesSlide33.xml" Id="Rf28a9655fd62427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1bf7c739e45e6" /><Relationship Type="http://schemas.openxmlformats.org/officeDocument/2006/relationships/notesSlide" Target="/ppt/notesSlides/notesSlide34.xml" Id="R7d0b5232b75743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e68e4ac104e80"/>
          <a:srcRect xmlns:a="http://schemas.openxmlformats.org/drawingml/2006/main" l="30469" t="0" r="304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CCE3B-9A6A-470B-A0B7-9AE53E50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8FA23-E960-436A-A23D-EB8476C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2cfbb8624ee2"/>
          <a:srcRect xmlns:a="http://schemas.openxmlformats.org/drawingml/2006/main" l="30859" t="0" r="308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11AD1-8764-4ABA-9836-A8C011D0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1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5beb22af7431d"/>
          <a:stretch xmlns:a="http://schemas.openxmlformats.org/drawingml/2006/main"/>
        </p:blipFill>
        <p:spPr>
          <a:xfrm xmlns:a="http://schemas.openxmlformats.org/drawingml/2006/main">
            <a:off x="666750" y="6096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727A-3390-44DF-AF04-D21E3F4E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ICPEP 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CEE6C-8651-43AB-8E87-B133D93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19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Website Features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User 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8D39B-A558-461F-9393-930A476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3E0F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3E0F6"/>
                </a:solidFill>
                <a:latin typeface="Arial"/>
                <a:ea typeface="Arial"/>
                <a:cs typeface="Arial"/>
              </a:rPr>
              <a:t>A detailed tour of the public portal, member workspace, community hub, and role-aware admin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FDBE8-0508-4224-B39E-B06F1339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143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79"/>
          </a:solidFill>
          <a:ln xmlns:a="http://schemas.openxmlformats.org/drawingml/2006/main" w="9525">
            <a:solidFill>
              <a:srgbClr val="2B57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87F08-901D-4E0A-9FDF-8EF0B98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9D2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9D2FF"/>
                </a:solidFill>
                <a:latin typeface="Arial"/>
                <a:ea typeface="Arial"/>
                <a:cs typeface="Arial"/>
              </a:rPr>
              <a:t>NWSSU COMPUTER ENGINEERING ORGANIZATION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2106C-6E7A-400C-9EB1-B4CB984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B3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CB3D5"/>
                </a:solidFill>
                <a:latin typeface="Arial"/>
                <a:ea typeface="Arial"/>
                <a:cs typeface="Arial"/>
              </a:rPr>
              <a:t>Prepared for organization members, editors, faculty, and administrators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E53BE-5686-4C40-B611-C53A91A9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8C3E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8C3EE"/>
                </a:solidFill>
                <a:latin typeface="Arial"/>
                <a:ea typeface="Arial"/>
                <a:cs typeface="Arial"/>
              </a:rPr>
              <a:t>01  /  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6777B-B584-4EA0-9234-2583D890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E4D7B-042A-46C1-992A-A9D7FA1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CB3D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9CB3D5"/>
                </a:solidFill>
                <a:latin typeface="Arial"/>
                <a:ea typeface="Arial"/>
                <a:cs typeface="Arial"/>
              </a:rPr>
              <a:t>ICpEP Connect  |  Feature tour + how-to guide</a:t>
            </a:r>
          </a:p>
        </p:txBody>
      </p:sp>
    </p:spTree>
    <p:extLst>
      <p:ext uri="{BB962C8B-B14F-4D97-AF65-F5344CB8AC3E}">
        <p14:creationId xmlns:p14="http://schemas.microsoft.com/office/powerpoint/2010/main" val="1521370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54624-EF1D-4FD4-99FB-FD2D4D6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434CD-E50C-4914-852C-65BDC8D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 public-facing digital home for the CPE community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7C65C-A44C-46B2-B956-D3CD5B3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site connects public information, verified-member services, and governed organization work in one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82AB-B81E-4683-B1C9-E0676C1D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02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C03A1-4AED-431B-9090-1BEC2E4E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33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AB06B-E7DF-488C-AABF-6D44339C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EBB3B-7EC6-443B-AAD6-9EE0CBF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50C2B-B3BD-4EB5-9D02-6A7AD34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Visitors can understand the organization, browse announcements, view stories, explore events, and meet the alumni community without an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40AC8-FB06-43DE-B796-18563D5D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87B39-BFA1-4993-9303-55E7573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333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A088F-EBA8-4E18-BA17-9C665853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BD8C6-C1A7-405E-9178-7E0347B3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Participate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492C9-BEAA-4FD1-BB70-C8575863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Approved students and faculty can use the Student Portal, open protected resources, and join moderated community rooms.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54812-8475-46B1-9EBD-78883A3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719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81A7A-C342-42AC-9DD8-D7B3A84F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333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E3C11-A527-47A2-B05A-AB5D132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80F5B-8AD8-42F4-AD3B-056FB62B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Steward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D00FE-B6AB-4D09-8F70-C89D03DE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Editors and administrators publish content, maintain people records, review accounts, and keep the archive orderly.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5636D-6852-45D3-8E01-760D7BE8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87116-B602-4134-B68D-7143C14D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The experience is designed around a simple promise: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A3DF2-ED3F-42F8-8EF2-0CF9FB16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make the organization easy to understand, easy to join, and easy to manage.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0714E-CD04-4D05-A403-5236C61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same brand language carries across public pages, member tools, and the admin workspace.</a:t>
            </a:r>
          </a:p>
        </p:txBody>
      </p:sp>
    </p:spTree>
    <p:extLst>
      <p:ext uri="{BB962C8B-B14F-4D97-AF65-F5344CB8AC3E}">
        <p14:creationId xmlns:p14="http://schemas.microsoft.com/office/powerpoint/2010/main" val="864454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BF4763-879E-4941-81A4-F09AEBDB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0D82-8EE0-489D-BEC5-58C5FC2A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One portal, five everyday destinations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28EC1-4F4B-4020-8119-E23A4DC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Navigation is organized around the questions people arrive with.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0265C-7C8F-4A0D-A68B-6DE9EA7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03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8E74E-A4F4-45A3-A51C-F05A046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62EA2-DE7F-441B-ACB6-9C3453A8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F7611-80A2-44B9-8615-513A605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BD7B6-A362-48BF-8EB2-B888D7D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012D3-E4F6-4C62-BFE5-BDF37DCC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57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What is happening?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D5C3B-7108-43B1-82CB-436FCD43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E936E-FE91-404B-A392-7C24F23C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6E840-771F-492E-957C-98CCD77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9B657-306D-4736-9A65-71873309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Announcements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E734D-66C4-46A6-83AF-92876B50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What changed?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30265-BDA7-4C01-8A70-A1CD452F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42D8D-340F-4620-BB99-39D5D70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0CA6D-A125-48D7-95D0-AC4B3235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FB090-21B4-491D-95B6-63F9B3D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News &amp; Gallery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03ABF-584E-449A-9545-65BEBC86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57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What should I see?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666C0-09C8-47E7-9A4D-34F00E4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B8AC7-7337-4A26-AAB9-B2F80E35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0B7C4-5EF4-464F-BF68-BF536D3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3D2AA-BF2C-4CA6-B3F4-73248D6C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A9623-8513-4177-BF53-102C21C3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What is next?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53037-C6DB-47E9-AC55-7C711951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384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123BB1-76F9-440C-8CBA-314C62E2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D3F6F-AAFC-40E8-BE9D-CC14674E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B2680-0855-4D25-9691-328D0EE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Student Portal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08942-9385-4D4D-9878-1C697974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480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What can I learn?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D33C3-A194-47A9-B5F3-AC34F32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3B508-83F7-4D22-A1E8-96D7DFF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79707-EFB3-430E-99AD-6E751290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6EDED0-0FA1-4C1E-9818-8B4DA2BC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Alumni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C4051-9252-4B4A-B04C-697E1FBF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480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Who came before?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5DA1D0-DA55-4001-B0FD-205A58D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1260C5-4657-45A6-A887-A7AFD10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D8C86-8FD0-4F83-B2A9-A4CADF5D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67CFD-01A3-44BA-8F45-98AB3419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About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1F0786-0450-400A-98F7-D0A9C9FB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38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Who are we?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B89CA6-5CD8-4B98-BF56-3633C9E0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3F0D3-552C-4335-8F0C-A6BD4E3B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F36AF9-564A-40B8-B9C5-F67947D2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B8B3C-2DA3-4549-B68B-420E4A7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Community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662BEB-E152-4683-8EC0-CAA9A9D9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38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Where do we talk?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ADF55B-2E11-43CC-B952-23D87535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3333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A05B80-13F1-42D7-A949-902C5E8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03393E-8AAA-4CDB-8A68-396C7390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FEE272-7AF3-44F4-B1B3-92253F9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ECACD-CE65-4FAA-9C80-6E18D4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What is documented?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944859-883F-478E-A3C2-3DF888D4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D34F57-07DC-4731-BFB9-60B0B4F6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Account and Admin are role-aware destinations: the interface reveals the right tools after authentication and approval.</a:t>
            </a:r>
          </a:p>
        </p:txBody>
      </p:sp>
    </p:spTree>
    <p:extLst>
      <p:ext uri="{BB962C8B-B14F-4D97-AF65-F5344CB8AC3E}">
        <p14:creationId xmlns:p14="http://schemas.microsoft.com/office/powerpoint/2010/main" val="534932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B5DF2C-170B-4633-A839-204C905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FC111-6543-44DE-AA0B-1E23FD57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Home makes the organization legible in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E8B5-3BAD-4B33-B411-4E4A863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landing page acts as a live front door: identity first, current stories next, useful pathways after that.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F10D9-FBDB-46F3-93D0-A869C1FA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04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8B88E-32FF-4047-9AD0-6F155FF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8004F-54E3-4E4C-8FEA-C0D3109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618FA-31DB-4AA9-9002-20769F6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715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A3A86-2B17-463E-A3DF-FA7432E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E593A-CBBB-4F15-9EC5-C8802F9C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121DF-38CF-46A5-9C62-11ED5858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9DC2A-7D3C-46D5-80E1-66A5C95F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66900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ICpEP Connect  /  Home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5e0bd6de24701"/>
          <a:srcRect xmlns:a="http://schemas.openxmlformats.org/drawingml/2006/main" l="0" t="26526" r="0" b="26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228850"/>
            <a:ext cx="5410200" cy="1428750"/>
          </a:xfrm>
          <a:prstGeom xmlns:a="http://schemas.openxmlformats.org/drawingml/2006/main" prst="roundRect">
            <a:avLst>
              <a:gd name="adj" fmla="val 10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BE0AD-A01D-4E43-8C14-B04A652D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A17D1-38BF-4D8E-9987-7B41DE8D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WHO WE 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EB78C-1BBC-4BAB-B61A-9B3E6FED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Computer Engineering</a:t>
            </a:r>
          </a:p>
          <a:p xmlns:a="http://schemas.openxmlformats.org/drawingml/2006/main">
            <a:pPr algn="l">
              <a:defRPr sz="19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with a community pulse.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94E25-C13B-4C9C-AF93-DD1B1F47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55386-EB95-46EE-A361-40922452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stories  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7DA21-7517-42CE-80CB-DF82A6BD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What visitors 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6F618-7018-4231-9156-E21EA1E2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19862-A85B-4166-B5C4-4B912976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 recognizable hero and organization identity.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7F139-8376-4A9F-8FA5-33C9EE93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1D9DA-C906-48BD-AB23-0596E4ED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News, gallery highlights, and upcoming events.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D0C46-6F10-449E-BF58-469180B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182CD-C012-4325-99D6-3AD0F0DE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Quick access to portal, alumni, community, and audit records.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033E3-D0BE-458D-AAA4-262A39B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64FC8-1B97-48BE-9197-165B3956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386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Trust signals: transparency, verified profiles, and official contacts.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66655A-B0D1-4B2C-831D-600DAC0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1752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8CAAB-B081-4501-A649-5CE9D6C0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AA6B1-67CE-4F54-B758-9587BE8A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primary destinations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4E2B4-8F67-4A28-88BB-08C8FCA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72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2E550-26AD-4F6B-AA45-0696B374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7526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2793B5-325D-4BC6-A29B-29F26B5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530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71F6CC-6656-4CE1-A17B-D469462E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340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shared visual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411F1C-D697-47B7-9A0C-5254E259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972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0221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70E1BA-73FE-4A74-9907-910D051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9DBC-79C0-4BD2-8C5F-20BEC38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Navigation adapts without losing the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0C54-1EEA-478D-A8F7-1EC6ED0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header, route transitions, loading states, and mobile menu keep the same information architecture across screen sizes.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6A5AD-551F-46A6-933D-9DDA989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05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CAEC7-46E1-413A-885D-0BA56692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733800"/>
          </a:xfrm>
          <a:prstGeom xmlns:a="http://schemas.openxmlformats.org/drawingml/2006/main" prst="roundRect">
            <a:avLst>
              <a:gd name="adj" fmla="val 56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5D00A-B9DF-4BE3-903A-D75B6CF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E85D8-8BAD-473C-B65B-7A749C1A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BFDA2-E485-441A-8A8E-D7BABAF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3A06B-8B87-4561-8B41-7DD8D02C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A8183-5E60-4CC5-96B3-527E3D85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90B76-B02B-4938-8087-EF672EB1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66900"/>
            <a:ext cx="403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Desktop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8E096-50FC-4717-8760-67891572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648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d1d0f313649ae"/>
          <a:stretch xmlns:a="http://schemas.openxmlformats.org/drawingml/2006/main"/>
        </p:blipFill>
        <p:spPr>
          <a:xfrm xmlns:a="http://schemas.openxmlformats.org/drawingml/2006/main">
            <a:off x="895350" y="23717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1197C-DBBE-4236-8717-A21C997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574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ICpEP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51D06-FD36-4E33-AC86-C4E336C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5745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Home   Announcements   News &amp; Gallery  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FA576-A17B-4C56-93F8-C4884615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01B28-4FC3-44F2-9690-599C0E5B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32712-2B61-479D-BD04-2A6F8A9E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32CB3-F046-45B6-8A63-1E3FCDD8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7371B-7C07-4291-919D-96D0D81C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Desktop: direct access to the full public map.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C265E-424C-43FD-B942-EBA6A59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486400" cy="3733800"/>
          </a:xfrm>
          <a:prstGeom xmlns:a="http://schemas.openxmlformats.org/drawingml/2006/main" prst="roundRect">
            <a:avLst>
              <a:gd name="adj" fmla="val 56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37977-4581-47A8-BDA8-144CB4EF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486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24560-4B67-446D-929D-8325CD38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486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858EF-7E73-43C3-A7FC-59A58E4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4F489-028C-4BD4-9C16-77A2CA59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683D6-43BF-42CD-B13F-CA556E9D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0916DE-D608-4426-83E3-E9D90DD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Responsive navigation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260B3-7786-43A4-8143-E0DD576F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5029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ab6e91928493b"/>
          <a:stretch xmlns:a="http://schemas.openxmlformats.org/drawingml/2006/main"/>
        </p:blipFill>
        <p:spPr>
          <a:xfrm xmlns:a="http://schemas.openxmlformats.org/drawingml/2006/main">
            <a:off x="6477000" y="23812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01394-3F0D-4D80-9216-64AB24D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ICpEP Connect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E73998-22C1-4884-BEF0-C4E8C8E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81250"/>
            <a:ext cx="3429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DD8EA-9185-44D9-9F68-03218E89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00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EC852-7502-4882-95D0-FBE171C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Mobile: the menu collapses while route loading and scrolling behavior stay controlled.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C4675-AFC2-4B1D-9859-A67F46E2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3AAAB-FB67-4D99-B54D-377DF30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Keyboard-friendly controls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B0452A-6BF2-42E9-9B4B-959DFB2E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C06DA0-E63C-49B8-A1CF-9DC08B72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Reduced-motion support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900CD6-C129-4C76-8679-689C2969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FB9C25-34E0-4A87-800D-BE43707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Loading skeletons for lazy routes</a:t>
            </a:r>
          </a:p>
        </p:txBody>
      </p:sp>
    </p:spTree>
    <p:extLst>
      <p:ext uri="{BB962C8B-B14F-4D97-AF65-F5344CB8AC3E}">
        <p14:creationId xmlns:p14="http://schemas.microsoft.com/office/powerpoint/2010/main" val="1713510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C09F16-55F6-4C82-A57C-3327B739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E02B1-0852-4D2C-B40F-0175631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Announcements turn updates into a searchable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D32FC-F726-466C-AF59-66AB94E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Visitors can scan the latest notices, narrow the list by category, and open a dedicated announcement detail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13E1E-5784-45FA-9F7C-7BBC240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06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C55BF-7867-4248-BB1E-D3FD58D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61531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8B48B-E9CA-4E6A-8EAD-3119C350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6153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FB4CE-0BB0-4367-8DA0-A5720D1C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153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C7705-37FD-45F0-A321-8B535C5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14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7DD06-E451-41CA-97D7-DA24F2F3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14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BDD2A-9E8B-4624-832E-8689E7B5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14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167AD-8403-44AD-8E4A-F7D9CEB9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859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Announcements  /  browse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FF3F5-575C-4BE0-A130-EC7DC8E3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5810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0B0A3-C3E7-4EF6-9B36-00F06CE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A9C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A9CB6"/>
                </a:solidFill>
                <a:latin typeface="Arial"/>
                <a:ea typeface="Arial"/>
                <a:cs typeface="Arial"/>
              </a:rPr>
              <a:t>⌕   Search announcements...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65A83-1A58-4D75-AB9B-1ACF83E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9525">
            <a:solidFill>
              <a:srgbClr val="165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057E9-EBC7-4012-A16A-3FFD3047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30936-7D7B-4522-9EC8-672D9D4B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57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A2154-84C7-4801-930A-5D656C2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146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Website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65E98-14C4-4A64-A6C2-F6A13E43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BF188-7A9A-4630-80A2-A7417E36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146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4DFA2-652F-48A2-A146-170E2FAD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E123C-606A-4B88-83DE-7E701A3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Merchandise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B0072-C700-4FC3-8ED5-65DDB1E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7241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8C4-A9A9-4901-A223-B8904C07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C9801-A128-482F-9AC0-25E54DC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WEBSITE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23EB8-4215-4362-9515-6D250016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New member approval</a:t>
            </a:r>
          </a:p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window is 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9E2B4-5F86-4533-8727-757FA3D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Open the notice for the full context and date.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661ED-96BE-401C-8EE6-947A4EB6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52800"/>
            <a:ext cx="27241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16A9E-292E-4E19-A25D-2E1C05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269ABE-830D-4431-ADC1-BC3F632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MERCHANDISE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66902-7BD2-433C-8841-8393BCB4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05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Official order</a:t>
            </a:r>
          </a:p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window details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074787-3214-42D7-81E1-53EFD40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72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Category filters keep the archive fast to scan.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15907-DD5A-4ACD-B86F-2B4D040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Useful behaviors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A0F09F-3189-4A0E-9069-E9D0BFB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642C6-97C8-4C6E-BBFA-025982D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Search by keyword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1C5783-306A-409C-94E2-EA67DEFA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9389D-D06B-4D69-BABE-89073969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Filter by current categories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558AA-0D1C-459E-BE51-3B56F1D9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E5B534-FFAE-4EC1-9B22-E05D23BD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Open full details from a card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481918-FC2F-403E-A1C8-8E283B23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CF5AE8-014B-493C-AE4F-E004564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Receive in-app notification popups for relevant alerts</a:t>
            </a:r>
          </a:p>
        </p:txBody>
      </p:sp>
    </p:spTree>
    <p:extLst>
      <p:ext uri="{BB962C8B-B14F-4D97-AF65-F5344CB8AC3E}">
        <p14:creationId xmlns:p14="http://schemas.microsoft.com/office/powerpoint/2010/main" val="143446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B9D03-46D7-46A0-B3EB-6FC03737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53E9D-1285-4828-9C6E-34EEF5A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News &amp; Gallery keeps the story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093A0-6E65-4285-AEA3-C744093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media experience combines a readable story card with a gallery surface for images, highlights, and featured content.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2A4F1-BF6F-42B4-9A91-3590C579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07  /  34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518a6fb914463"/>
          <a:srcRect xmlns:a="http://schemas.openxmlformats.org/drawingml/2006/main" l="25058" t="0" r="250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3810000" cy="3524250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541E-3B6D-4326-9EFB-CED7A91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339CF-CB2F-4BA3-88FF-75A10F8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7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context makes updates easier to remember.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AFEF1-B6B4-4A07-B314-0E09E58D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E0670-1E07-46E2-BA9D-ADBBA94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6B03C-B553-4E5A-8F8A-B7A6BE6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Story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DAC58-1894-48A5-9B40-F825C98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051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Headline, category, date, excerpt, reactions, comments, and a clear path to the full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4FCA7-B5DC-4A79-BEA5-3F32F5F6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326A4-9B32-492F-89DD-92F994DF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45C97-CD87-4977-842B-30FB8DB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FB011-8147-4622-A6CF-53FD9830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Gallery surfaces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EA90C-A31A-4D2F-A71E-EC88A43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Multiple images can be organized into a focused news or gallery entry with a cover image.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6861B-0402-400F-A326-00AD01F7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DB1D0-4484-4869-A398-5E6DFCF5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BBC87-E46F-45AA-8085-6D650FA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8FC5F-629F-4883-9C48-5AC10DE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Featured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6FEAE-8AAD-4718-AF64-78107B76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Editors can highlight the items that deserve attention on the homepage and in the public feed.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69044-3D8D-4C2D-B40A-2DB83DC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244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19DE5-7979-42B4-9596-9BD51390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2C3B0-9A0A-4520-815F-4C9B86C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9568C-74C3-44A7-9432-562B904B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Detail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198E6-3058-4312-8839-FEB8F24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Clicking through preserves the full original image and the complete story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6BCB2-135F-4D28-98BA-3FC8FCAB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510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9B1F33-535F-43B1-86AA-C0AED76F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F531-9358-417A-8B18-6449E1F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Photo editing separates the card crop from the full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21FCC-24F3-4B62-BAB6-A071FB5B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Editors can shape the preview image for consistent cards while visitors can still open the original image in the detail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D4E0E-E4EE-4C01-B257-B0CCED0C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08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405EF-86A2-4F81-A0A7-2081F8FB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EF23C-52F4-44D4-A4B7-9946FB2D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EDITOR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287A4-C809-419D-936A-E66F496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F2A9E-9FB7-48BF-8337-ACCEE35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B9A25-5A78-43BF-89A6-447D423E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16006-AA3A-4EAB-8803-FA8A49F2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Select the source image for a news, gallery, or event item.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8A98F-A9EF-470A-ACDC-D44099E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3B1BF-EF39-441E-A51E-D27990F3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F1881-2154-4074-82E8-9733091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Crop + zoom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36264-89EF-437A-AF50-909CF982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Choose the focal area and adjust the crop without rewriting the original.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65BF7-EB5A-410C-B7B9-934F69F7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E30E6-C907-44F8-99C8-C26CF22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B5BE6-EDD8-4E15-B0A4-7DFE4A0E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33965-D18D-45BE-9523-059FB00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See the card treatment before publishing so the composition is intentional.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719C6-195F-444E-BFEE-C14D91A6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DEDC1-ACC1-43D4-B5A5-565513B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CD225-0967-427F-AF26-80866264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F6AE4-D06B-4B48-8BC7-EDCCD44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edited card image appears in listings; the full source remains available in detail 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260DC-3950-49D3-AFCE-87FE82E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09750"/>
            <a:ext cx="5943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09AB5-B2AB-418C-AAFD-F5B820F4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574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TWO VIEWS, ONE 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EC757-9D07-47C4-B003-ADA855F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23622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f2c3987cb4de4"/>
          <a:srcRect xmlns:a="http://schemas.openxmlformats.org/drawingml/2006/main" l="1008" t="0" r="1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609850"/>
            <a:ext cx="2057400" cy="1181100"/>
          </a:xfrm>
          <a:prstGeom xmlns:a="http://schemas.openxmlformats.org/drawingml/2006/main" prst="roundRect">
            <a:avLst>
              <a:gd name="adj" fmla="val 8065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77A6E-CF62-4272-9464-9A898C59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Homepage card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2F8CE-CF08-4A41-8812-35D1EE5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Consistent crop + readable layout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38D95-2C91-42BB-AE7B-809BBBE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3622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cb807c38a4bf2"/>
          <a:stretch xmlns:a="http://schemas.openxmlformats.org/drawingml/2006/main"/>
        </p:blipFill>
        <p:spPr>
          <a:xfrm xmlns:a="http://schemas.openxmlformats.org/drawingml/2006/main">
            <a:off x="8991600" y="2621756"/>
            <a:ext cx="2057400" cy="1157288"/>
          </a:xfrm>
          <a:prstGeom xmlns:a="http://schemas.openxmlformats.org/drawingml/2006/main" prst="roundRect">
            <a:avLst>
              <a:gd name="adj" fmla="val 8065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7CAE6-8AFE-44D1-B486-61A5F9A4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Detail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EF5F3A-F329-4399-963D-1A4FFC51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48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Full image stays accessible</a:t>
            </a:r>
          </a:p>
        </p:txBody>
      </p:sp>
    </p:spTree>
    <p:extLst>
      <p:ext uri="{BB962C8B-B14F-4D97-AF65-F5344CB8AC3E}">
        <p14:creationId xmlns:p14="http://schemas.microsoft.com/office/powerpoint/2010/main" val="840909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376A5-DBEE-4877-8F72-94BE0983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78DBE-4D8D-4F65-9D10-04CC5E05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Events carry the schedule and the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24D80-0390-4833-A36A-4FE4296B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An event entry is more than a date: it gives visitors the what, when, where, and why in a compact public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16358-0CD3-48C8-B8D0-82FEEC53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09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B6B64-6D56-4207-913F-C77F80A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667250" cy="348615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F40A7-BF6B-41E7-83D2-89FD076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971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B6EC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4E114-78EF-41B5-89D8-6D76C17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UPCOMING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7DB11-993F-4056-90A2-B2DDAAD1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General Assembly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B8890-7F88-4B77-91DA-A1F3194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 campus-wide moment for orientation, updates, and community participation.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6D5E1-B7FC-491F-8FFA-9E4B55E4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BB5A1-F19E-42A7-AAA9-1EF94867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AUG 28,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63A50-7755-4597-A8FF-61F78669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Engineering Building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0A08D-6E16-42D2-A559-A646699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Registration or external link can be surfaced when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A62E6-A72F-4F3F-B21F-0156E3A2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Editor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57F55-BFE1-4E19-B22A-556024C1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867BB-2894-4F43-BF0D-CF9773CB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Create and update event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68122-3B7A-4102-9E5E-D642377E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936D4-928B-455A-B506-323C21A6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Set status: upcoming, ongoing, completed, or cancelled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40296-1BE3-4878-90A7-AD3E807B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86C8A-518C-4F70-9A2F-0391ACDA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Add venue, description, registration link, and featured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0C646-52BF-4F23-8C6A-989A9EAB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A74B7-E4AD-43C9-A903-1032AB8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Attach or crop event media for consistent cards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18518-10E5-4799-9537-7592DE3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4953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FFD6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FF611-9E23-4629-8F52-1B60CE8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958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1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Visitor habit: scan the date first, then open the details that matter.</a:t>
            </a:r>
          </a:p>
        </p:txBody>
      </p:sp>
    </p:spTree>
    <p:extLst>
      <p:ext uri="{BB962C8B-B14F-4D97-AF65-F5344CB8AC3E}">
        <p14:creationId xmlns:p14="http://schemas.microsoft.com/office/powerpoint/2010/main" val="1688314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526636-D0BF-4A82-A36F-F1D4E352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PUBLIC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C1098-1F8C-45A9-AB06-0144D50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32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Reactions and notifications create a lightweight feedback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F6FD8-B6B3-4EF1-A1B4-A287ADC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Visitors can respond to stories quickly, while the site keeps the interaction compact and readable.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0F0DB-E8CE-4FC3-A357-BC251A4F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10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928EE-89F9-42C0-B371-B66F580F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477000" cy="35623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0BD6-3C39-4A93-8D3F-E8997AA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477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73A66-28DA-4A22-AE1F-0A9A94E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647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9AA18-EC7C-48B9-8ADC-70A3EBDF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33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08370-818A-4EF1-9FDF-1F80A83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33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665D1-C238-4BF2-9294-A8A59D94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33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C2472-D0D0-4D7C-A2E2-994A5FD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05000"/>
            <a:ext cx="556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News card  /  reactions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CDEA9-E1B7-47E9-AAE7-5A9ACEF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ICpEPians Join the 59th ASEAN Founding Anniversary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9F0C6-06AA-4C87-8818-55322FC7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 preview excerpt introduces the story before the reader commits to the full detail 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347C9-6049-4B6B-A5D6-20C3114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563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1DF56-AF30-4AA5-ABCB-F156219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DCEA4-7BB1-405F-A2D7-57AD61B0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♡  Love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3644B-E92B-440C-A3CD-D283547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243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469F3-3A5E-4CEC-99AA-7000442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✦  Celebrate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2BE7B-CB91-48EB-B9A1-50AAF84A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43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E14EA-B30C-41AA-A099-BD94204D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95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●  Wow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0C6A6-6EAE-41D0-AA3C-14EDD393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24300"/>
            <a:ext cx="1028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DB4A2-29D8-45F9-93E6-8DEA8E32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195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↔ 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9EFA7-AE5F-45B9-B81D-B8F324D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Comments and replies keep the conversation attached to the story.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786C6-DFA7-41A1-9152-DB3550D2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Experience details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B5511-F779-4EEA-AE70-AD18C78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1B044-F7D4-47EE-83B6-7A4D1F2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Custom reaction picker with member filters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B7E98-58F9-4D9A-A39A-18031BB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BBC562-B232-4557-B08B-F349BA83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Comment replies and deletion permissions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1F884-1858-45C7-AE44-2212864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79AC2-734A-4033-A448-14E5C1B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In-app notification popup for relevant alerts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B62940-4E46-486B-9F26-5517CA53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DACB33-7956-477D-83FC-215237FA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Compact controls that stay aligned across cards</a:t>
            </a:r>
          </a:p>
        </p:txBody>
      </p:sp>
    </p:spTree>
    <p:extLst>
      <p:ext uri="{BB962C8B-B14F-4D97-AF65-F5344CB8AC3E}">
        <p14:creationId xmlns:p14="http://schemas.microsoft.com/office/powerpoint/2010/main" val="20281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EBE2F-D73A-42EB-9A8E-1AE2945E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MEMBER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EA9A0-D783-44A1-86C0-81B56238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Student Portal is the member-only learning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2169B-B138-4497-AF06-A87930F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After approval, the portal gives students and faculty a focused place to find resources and understand the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D8132-C3EB-4520-8E7D-27AD71E6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11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5B85E-6E6E-45E0-A874-87209FAF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530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7AB55-F68F-48C2-BE68-30206D01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APPROVED MEMBER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ABA23-78F3-44E2-862C-523E0563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Learn, review,</a:t>
            </a:r>
          </a:p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move forward.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23497-41B4-4F70-B0B3-98C84316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1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The portal is protected by account approval, so internal resources stay inside the intended community.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38D2C-F384-40F0-BDB9-69A4DF31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7A"/>
          </a:solidFill>
          <a:ln xmlns:a="http://schemas.openxmlformats.org/drawingml/2006/main" w="9525">
            <a:solidFill>
              <a:srgbClr val="2B57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2D86A-A696-486C-8596-E6873F0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9D2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9D2FF"/>
                </a:solidFill>
                <a:latin typeface="Arial"/>
                <a:ea typeface="Arial"/>
                <a:cs typeface="Arial"/>
              </a:rPr>
              <a:t>APPROVED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90F18-4695-45E3-8556-FE5CF8D8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529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Student  /  Faculty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6563A-3D3B-4390-9A48-29D1B5B6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Portal 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C80CF-7BF6-4622-B538-17A1C02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77071-4321-4D50-80C9-1B0DD96A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438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Resource library: reviewers, lab manuals, tutorials, and more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399E7-6B42-4415-AF42-F78E0DBE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342C9-FA63-47EC-86B8-B515EF4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62275"/>
            <a:ext cx="4438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Curriculum map by year level and term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96FBD-E5A1-46A4-8BC6-7C4A431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20937-EA7C-47A0-9868-40089278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4438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Program background, outcomes, and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5553C-82C2-49E1-B085-ADD0A207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9D272-2DDD-4B90-838C-380F3394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4438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Protected file access for approved accounts</a:t>
            </a:r>
          </a:p>
        </p:txBody>
      </p:sp>
    </p:spTree>
    <p:extLst>
      <p:ext uri="{BB962C8B-B14F-4D97-AF65-F5344CB8AC3E}">
        <p14:creationId xmlns:p14="http://schemas.microsoft.com/office/powerpoint/2010/main" val="2052014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DD310F-02D0-4C02-8739-CA63ED22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MEMBER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0D381-D1C0-40F9-B133-C05CE2C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Resources are organized for quick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F2C44-DCE3-4FF9-9386-19364B7A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 resource record carries the context a member needs before opening the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A5AFE-B171-4687-993B-7E9DD1E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12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5BAC2-6D61-44A0-BBA0-2166605A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3543300"/>
          </a:xfrm>
          <a:prstGeom xmlns:a="http://schemas.openxmlformats.org/drawingml/2006/main" prst="roundRect">
            <a:avLst>
              <a:gd name="adj" fmla="val 5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19568-88B4-45E2-89EB-3A655912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1BD40-FD5E-4F2B-B160-9E7FE995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191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2A35C-465E-4EAB-BDA1-D984286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01935-BF1E-4B65-A14A-C9B83C5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CC7A9-9E10-491D-8F73-BC766891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24553-ED62-4F88-A032-D794FB17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527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Student Portal  /  resources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69F16-4504-4A55-8960-C741EA39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A5396-A99A-4575-858D-B5BEE40C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98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6A1B9-4061-4165-AD4C-A218863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Reviewers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01308-757C-4820-8F00-3E1A9929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14E0B-D4AF-4D29-8422-93FBD7A8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7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1FB61-DE8C-475E-A9D7-6B9DD17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241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Lecture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9EFDF-35A4-4A6B-AF96-D86AE044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77F3F-066B-4C06-BB0B-816C9EA4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518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6FC42-8168-48D7-97D1-CCA23147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Lab Manuals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30F16-A515-4A4A-8849-C53F219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34E4B-7265-45E7-AFD5-AFF4814C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28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ADCE0-F607-4803-878E-767C255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5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Tutorials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21845-07D9-46B2-8CF9-CE8E52B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E61D1-8489-4200-BEE2-3269CA0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05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3E113-A220-4F7F-A6A6-489E592D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27BFCE-44C4-42FC-893B-31CA7A44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39433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8A3B8-2BFB-49CA-99AD-E80AAC5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860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Microcontroller Reviewers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4D98B-2621-49FF-AA91-2F1F0922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971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DA18C-7D2C-4BBD-B01C-0973519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Reviewers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5DD6F-4C00-4DBA-B7C0-2CAC329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52725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Course preparation material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AEB854-39DB-4D90-9E4E-80BF5937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39433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F9E39E-99AD-4D3D-9F1E-2CCC2FA9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Digital Logic Lab Manual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EEDA6-B836-4829-AD4E-08162270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971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6D437A-A39C-4562-8B98-8C97BB2E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99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Lab Manuals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131B45-706A-4259-AAE6-AFC1A1D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Hands-on reference for laboratory 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0F871-AE47-4DA5-BD79-D789CB5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14800"/>
            <a:ext cx="39433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CD148D-F3D4-4DA8-9A56-7CC6D98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38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CPE Tutorials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94E1A3-3161-452F-9824-93C43A5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29100"/>
            <a:ext cx="971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706FE0-AD4D-40EC-8D82-DDF0CD0A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Tutorials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7D9636-0984-4AC5-8F04-8ADBD38F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05325"/>
            <a:ext cx="323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Guides and explainers for members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48CFC5-F009-4F1C-B165-68BD9DFB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File behavior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62CBCF-84C3-4537-87F8-66B791D2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17CFBF-5A07-4A2D-9CF5-E967E12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Search or filter before opening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9F764-EFCF-4E9C-9C30-48FEE0E7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4F5EB9-9B03-483B-8FC3-C85F5D20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Published records show title, category, course, year, and description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E77C1C-A6A8-4348-9CD2-0AF59436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33BA37-7847-4698-A27B-984471F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PDFs open directly in the browser when possible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5C2570-DF91-49A7-BC65-6DB9467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7F0633-4C9E-4D80-B6D0-74CBD2B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Non-PDF attachments can keep download behavior</a:t>
            </a:r>
          </a:p>
        </p:txBody>
      </p:sp>
    </p:spTree>
    <p:extLst>
      <p:ext uri="{BB962C8B-B14F-4D97-AF65-F5344CB8AC3E}">
        <p14:creationId xmlns:p14="http://schemas.microsoft.com/office/powerpoint/2010/main" val="1708234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4A007-C3F3-4A4C-998B-5F3012A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MEMBER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F4425-6E01-4769-AC8B-0AC16B0B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Curriculum and program context live beside the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3864C-31C9-4D1E-8B3E-5774B5B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portal is useful because it answers both “where is the document?” and “how does this fit the program?”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CEADA-19F4-4108-AFFE-AB3833C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13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D586-76E1-4F19-951E-DC79B668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2956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4889F-05F0-4C56-8620-2D016D3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79BE9-613A-42FB-A7C8-365D52C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Year-level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E587D-9AD2-49B3-A293-0396E97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Browse first-year through fourth-year content without the irregular status in the public-facing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42869-4D13-48B0-8FDB-E3E10D6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AC6BC-C4D0-4354-B02D-82DD4E62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85950"/>
            <a:ext cx="32956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150E-9890-4E70-A08C-50B99E16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57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00FD7-A60D-43DE-A009-5E2B7C44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00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Term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B66FA-7B47-4861-9BD4-5516446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8130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See subjects and resources in a course-aware context instead of scanning an undifferentiated file 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AFF94-03B0-4034-84AE-D5E178D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052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5F5D5-CC18-40E6-9BB3-02D624A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2956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2F9CA-7BE2-466A-ADD1-F2C95467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8E0E8-929B-4AE1-8C30-0419A12A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Program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B1101-0E3C-490E-B4E7-92429B0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Mission, outcomes, and background connect individual study materials back to the organization.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491D1-135A-4A2A-8C23-29F8853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BD344-DE10-4A49-A5BB-B97F4C6D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72A94-28A8-4217-99C4-1D33973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 good portal reduces the number of decisions between “I need help” and “I found the right thing.”</a:t>
            </a:r>
          </a:p>
        </p:txBody>
      </p:sp>
    </p:spTree>
    <p:extLst>
      <p:ext uri="{BB962C8B-B14F-4D97-AF65-F5344CB8AC3E}">
        <p14:creationId xmlns:p14="http://schemas.microsoft.com/office/powerpoint/2010/main" val="1686922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11B54C-76BF-4EBC-8DEB-56A2D317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ALUMNI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870E-F922-44F6-9038-4AD93413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Alumni becomes a browsable yearbook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32B88-1B9E-417A-893E-4BD9BC9E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Not a spreadsheet: visitors can move through graduate batches, search names, and open approved profiles with a consistent portrait-first layout.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45D63-75CB-416A-BD33-3ECF705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14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C20AF-E0F6-400B-A2C1-4EB8ED9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35623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24972-A107-41C7-BE4A-1442F988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GRADUATE DIRECTORY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7E73-030D-4237-A13E-664C8E7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Browse the Yearbook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C5EF5-0020-42E1-9C99-84769DF9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27FB8-2F22-44D8-8A51-AE8A6F07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Batch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B022D-FCB5-4948-8579-4E8AAF3C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95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9525">
            <a:solidFill>
              <a:srgbClr val="165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6FDFD-3BC5-4B03-A229-F896C2FD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527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Batch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5CBCC-189F-455F-9959-27D3F92C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7053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9AD10-6AA8-4CD2-B804-C6FEB002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294A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294AF"/>
                </a:solidFill>
                <a:latin typeface="Arial"/>
                <a:ea typeface="Arial"/>
                <a:cs typeface="Arial"/>
              </a:rPr>
              <a:t>⌕  Search alumni by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2A737-5126-492F-A269-713F4DA3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6745B-CEDB-49C5-8C0B-204FF383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Aileen  ·  Christian  ·  Jessa  ·  Jason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905CE-36FA-46AF-B1C5-7A530FE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Portrait 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FDA7C-A93E-439F-B8D3-743E96C0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1066800" cy="1676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b5d7fc8714972">
            <a:extLst>
              <a:ext uri="{96DAC541-7B7A-43D3-8B79-37D633B846F1}">
                <asvg:svgBlip xmlns:asvg="http://schemas.microsoft.com/office/drawing/2016/SVG/main" r:embed="R3dfe2d6f68494f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10300" y="2667000"/>
            <a:ext cx="838200" cy="9906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F97C0-5230-4DE2-AC40-E2F9A597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Aileen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DA1CF-431B-4DF0-B819-3E4ABE13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Batch 2025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322D0-B4E8-48A3-84BF-A6C6147D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1066800" cy="1676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d5c6ab500446e">
            <a:extLst>
              <a:ext uri="{96DAC541-7B7A-43D3-8B79-37D633B846F1}">
                <asvg:svgBlip xmlns:asvg="http://schemas.microsoft.com/office/drawing/2016/SVG/main" r:embed="Rc120e76fd77949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2667000"/>
            <a:ext cx="838200" cy="9906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1083B-1AF3-4DCB-A274-CA303255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Christian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06794-06E0-4DC4-A4DE-02E9E77C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195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Batch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F3F06-DCB6-4137-A5D9-92C5ABB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066800" cy="1676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00c7ab90c4ebe">
            <a:extLst>
              <a:ext uri="{96DAC541-7B7A-43D3-8B79-37D633B846F1}">
                <asvg:svgBlip xmlns:asvg="http://schemas.microsoft.com/office/drawing/2016/SVG/main" r:embed="R00276f938a5a46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4900" y="2667000"/>
            <a:ext cx="838200" cy="9906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35592-3419-41EC-9F8E-DE988758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0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Jessa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7C74F-75C7-4F75-B40B-BBD664D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195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Batch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172CE5-F77D-4133-AA6C-4834779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1066800" cy="1676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ef235dff64b21">
            <a:extLst>
              <a:ext uri="{96DAC541-7B7A-43D3-8B79-37D633B846F1}">
                <asvg:svgBlip xmlns:asvg="http://schemas.microsoft.com/office/drawing/2016/SVG/main" r:embed="Rb2a52fceef234c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2667000"/>
            <a:ext cx="838200" cy="9906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928BF-F540-4229-A8C9-AB517F33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10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Jason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BB470-D74A-494D-9461-1CA9784D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195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Batch 2025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6451AB-34F3-4421-B3C9-99833FDB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directory prioritizes readable faces, even card heights, and quick batch switching.</a:t>
            </a:r>
          </a:p>
        </p:txBody>
      </p:sp>
    </p:spTree>
    <p:extLst>
      <p:ext uri="{BB962C8B-B14F-4D97-AF65-F5344CB8AC3E}">
        <p14:creationId xmlns:p14="http://schemas.microsoft.com/office/powerpoint/2010/main" val="16646801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F270E-BC35-48AC-96D1-36037C9F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ALUMNI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1AD02-9829-491A-AB63-7A87E600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Every alumni profile can carry a richer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A96E8-1B7F-43ED-BDD1-10E2436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public profile combines verified identity with the achievements and leadership background that make a graduate memorable.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B468F-2775-4D64-A7DD-7E9D119D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15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6214F-0915-4755-88FF-CE0E755C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0005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fe66b22774a67">
            <a:extLst>
              <a:ext uri="{96DAC541-7B7A-43D3-8B79-37D633B846F1}">
                <asvg:svgBlip xmlns:asvg="http://schemas.microsoft.com/office/drawing/2016/SVG/main" r:embed="R51ce8d5e0ea44f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133600"/>
            <a:ext cx="1143000" cy="1390650"/>
          </a:xfrm>
          <a:prstGeom xmlns:a="http://schemas.openxmlformats.org/drawingml/2006/main" prst="roundRect">
            <a:avLst>
              <a:gd name="adj" fmla="val 15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FA5B4-B233-407A-AF50-293220A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Christian L. Lungsod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B9D4F-5F32-43AF-838A-B4BD84D5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19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Batch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2B71-1F3A-4BA3-A376-E9160546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Institute of Computer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14B2F-1219-4EE9-87C1-3806A3F3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FA268-0D64-41C5-BFD1-449B81C0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Approved public details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CE31-6FCC-4EDD-9BC0-61C9B34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Profile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34674-766E-49E3-AE69-6B87B320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2D03F-828C-41E4-9E87-57C9DE2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Name, batch, institute, and professional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B246C-DE24-4E6C-892D-6989501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81822-CAD9-46E0-85F0-91CEDDA0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Achievements displayed as separate 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B00B2-B2F1-41C0-A398-199A83E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A31B7-D753-4A2D-BB37-397C2C8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Multiple leadership background entries per graduate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22DC5-CEBA-4790-8A3E-A3F386E4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709E5-CB95-45F2-B339-8FE01ACE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Spotlight note relabeled as Achievements in the profile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6F18D-4ABD-4EFF-A36B-B3A13C6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57721-B291-4EA3-9FF9-91FD9DC9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33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Consent and approval keep the public profile respectful</a:t>
            </a:r>
          </a:p>
        </p:txBody>
      </p:sp>
    </p:spTree>
    <p:extLst>
      <p:ext uri="{BB962C8B-B14F-4D97-AF65-F5344CB8AC3E}">
        <p14:creationId xmlns:p14="http://schemas.microsoft.com/office/powerpoint/2010/main" val="752588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E822C-1275-4B6D-B356-00EA6BAD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ORGANIZATION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F5D54-1F50-46E6-8751-4EF607F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About turns the organization into a living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1286A-B366-4CE9-AEE9-37123540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History explains where the program came from; current faculty and officers show who carries it forward.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79600-6D2F-4D33-BCFC-3A47490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16  /  34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1b39042964504"/>
          <a:srcRect xmlns:a="http://schemas.openxmlformats.org/drawingml/2006/main" l="25281" t="0" r="252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47850"/>
            <a:ext cx="3714750" cy="3467100"/>
          </a:xfrm>
          <a:prstGeom xmlns:a="http://schemas.openxmlformats.org/drawingml/2006/main" prst="roundRect">
            <a:avLst>
              <a:gd name="adj" fmla="val 60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ED3A2-2FD2-435F-9B27-A4785599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71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B0731-56FF-4E4B-BC87-6AEF0D50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  →  Faculty  →  Officers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862FA-2B99-4BA4-AA68-C89E856D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Organization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8D332-3F05-425B-ABF6-5A235FB2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81536-1861-4353-9BEB-DD9CE5BE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Program history and milestone timeline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5AEFB-ED4C-4863-86BF-0A457845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B487D-2521-4425-9D0B-BBC24C6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337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Mission, vision, contact, and homepage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DD378-4FFF-4367-9257-EA916F41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8C604-E09B-4C90-8D8E-1F50624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Faculty listed by Program Chairperson or Faculty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4B83E-226C-4DA5-A2D9-0B4402CA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15E74-CCE5-4EF8-AAA4-4E1F8703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Organization officers ordered by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FBE6C-0D66-4152-BEB3-D9A39FE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B30EF-E749-4D48-966E-23B45DC1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05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Portrait crop, zoom, preview, and initials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23DBA-CD4C-4FA6-87C2-4644143C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10150"/>
            <a:ext cx="5619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FFD6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ABEC0-313E-44ED-BA6A-00E96C9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7207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The page makes governance visible without making it feel bureaucratic.</a:t>
            </a:r>
          </a:p>
        </p:txBody>
      </p:sp>
    </p:spTree>
    <p:extLst>
      <p:ext uri="{BB962C8B-B14F-4D97-AF65-F5344CB8AC3E}">
        <p14:creationId xmlns:p14="http://schemas.microsoft.com/office/powerpoint/2010/main" val="19831648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38E3A-EACA-4E4D-8241-5C52923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TRANSPARENCY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8FD8E-5B3E-4DDD-89DE-4733202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Internal Audit makes approved records findable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D4E97-54BC-436A-A63D-9082719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public archive turns formal documents into a structured browsing experience instead of a folder of mystery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EFFD2-B44F-4C39-8194-797E6B2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17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7C8A7-447F-4085-B78E-D0F6AB3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57225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492FE-FDC7-4027-A94E-39047396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ARCHIVE CATEGORIES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32A3B-CA78-470B-B2A3-F14F3B7F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5810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B334F-6882-45B8-9357-81159B4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6846E-A8A2-490F-8D31-DC72B7C5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622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Project Proposals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B1269-6549-4256-AF56-EF0770F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622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Plans, objectives, and committee responsibilities.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81F59-B4E5-470E-9A79-8CEC10DC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5810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A824E-63D8-4CC0-87BF-8C6FBC3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9DF7D-050F-4B3A-8798-6FF8C71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99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Activities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EC2A0-1475-4AF4-A318-E46EB409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99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Completed programs, initiatives, and organization outputs.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0FAF5-F713-4A81-B26C-3544ABA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5810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1DAA7-4627-4A93-820D-1C67922D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E551E-067D-4FA6-BF17-BF730815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57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Liquidation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626DE-5B88-43E4-8307-640792C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576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Funds, expenses, receipts, and balances.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F3EB9-7DEF-4624-AE56-BB6BA0AD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810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E58A0-D054-4E33-A04B-382884C2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FB8B9-E80F-406B-89B5-66A66BB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053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Resolutions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80D3B-2C5D-46EA-BF30-B66EA6AF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Official decisions, approvals, and policies.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14B3B-34E9-47D4-BE35-B711026A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Reader 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F1C2B-7133-44D9-A6D6-4B1B41E1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A119A-8E25-4667-BE30-B35CBA6D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Search by title or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0D949-B623-47F5-984E-40BBE50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CFF2C-D59C-45E5-B45E-D9BB82A0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Filter by archive category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FE6FA-7782-4712-9D24-F2896CDA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47597-A8D3-4D88-91AA-4F766E5D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Read period, publication date, and document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6DD017-B964-4B90-8308-7D07532A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4F1D2-A2D7-452F-A964-8D2141B1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View the PDF directly in the browser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4141AD-C518-4E6B-9D6C-BD70055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D658D-B69A-4980-B5B2-78896EE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Optional prepared, reviewed, and approved fields</a:t>
            </a:r>
          </a:p>
        </p:txBody>
      </p:sp>
    </p:spTree>
    <p:extLst>
      <p:ext uri="{BB962C8B-B14F-4D97-AF65-F5344CB8AC3E}">
        <p14:creationId xmlns:p14="http://schemas.microsoft.com/office/powerpoint/2010/main" val="47807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5972D-1C2D-4707-A8F0-AA286F86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COMMUNITY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51BA5-950B-46AD-84F1-6C030F61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Community Hub follows a familiar conversation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D5450-13CB-499A-A6A3-2A7F1F2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desktop layout uses three zones so members can see where they are, what is being said, and what the room contains.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B486-792E-4B50-BAF4-8A9A29E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18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C93D7-52BD-4470-98F1-F081111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3600450"/>
          </a:xfrm>
          <a:prstGeom xmlns:a="http://schemas.openxmlformats.org/drawingml/2006/main" prst="roundRect">
            <a:avLst>
              <a:gd name="adj" fmla="val 58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0E7CD-1769-446C-9C1D-98212613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36004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7C2D5-7D0B-4BC6-AB34-4A8D9EDD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5619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C7031-A4C7-43AE-98B2-55B41C82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90700"/>
            <a:ext cx="2971800" cy="3600450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82D5-E4AA-4AC2-8E2C-09874338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ROOMS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81189-89C5-4FE6-8D98-1FD2977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51556-2852-4C0C-B93E-36FC15D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98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0106C-9518-402C-98D2-743BB416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General Lounge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98AF0-C407-4C6A-B88B-AAF93F0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201EB-C285-4B98-B018-70CD21A4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7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DBCCE-D3DC-47B6-8ABC-BCB167AF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Academic Help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C0FDD-3123-43AB-8ECC-D7AFE9F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BDBC1-6BE7-4923-AC4C-0984F3E1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518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502F2-EEFE-4C5F-8B5C-F02FACE1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Events Talk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B773E-D94A-4B2D-92EF-6769649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054D8-8452-4D39-A7A5-5CE46828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28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A8A84-9AD6-422F-999A-F3583C43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Announcements Q&amp;A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6730C-CDA6-4E5A-9CC9-D89EB1E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0FBC5-6C3D-4CD3-970B-11E0BDF2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05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41E5F-CB82-43DA-8DA4-2E568A6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Resource 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F7E14-D063-4CB7-8603-08E7F88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GENERAL LOUNGE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0099E-DDE8-45CD-966C-576E7B2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Open student conversations and quick organization questions.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B5BD7-105E-475B-A9AF-B0B8264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7E1C0C-7A29-49F2-887E-3825B1C4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Kenjoobies  ·  Editor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22CB7-9BB8-49F6-808D-473DFBB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0400"/>
            <a:ext cx="23050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E6865-2E0C-4731-82A5-9422AF6C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guys?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CB4F66-CB79-4F67-AE92-E0841197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89B5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9B5FF"/>
                </a:solidFill>
                <a:latin typeface="Arial"/>
                <a:ea typeface="Arial"/>
                <a:cs typeface="Arial"/>
              </a:rPr>
              <a:t>rvin  ·  Administrator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3F340F-BD33-47B2-8F71-4258E3DC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33850"/>
            <a:ext cx="23050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0715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910D6F-62F1-4E40-8B8E-4DD7FC5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hello @Kenjoobies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03F67-37A7-4E68-B717-603AD855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1080D-1C7C-4921-B2A6-CA745A5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E6937-7393-4DEF-9200-B2FD0B7E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ROOM OVERVIEW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7AF50-C68C-4C6B-9138-31F068A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43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Members  /  photos  /  files  /  links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D3F23E-15B5-460A-9E83-BD0323A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908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095D1F-A682-42DB-AC5E-626E5D05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side panel keeps shared context visible while the middle remains focused on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771180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ACB4CD-E2FD-4EBC-A128-AC9A68E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COMMUNITY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D89A2-11E8-4308-9923-AA558A2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Messaging supports real community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40D7F-D3ED-4343-8F70-788B715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chat is built for approved members, practical attachments, and the small interactions that keep a room usable.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849E8-FF1E-4E78-926B-F0B02BB1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19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D9D16-2C78-4584-B6F0-DAA164D0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33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60564-236A-4423-B5B1-1F0F9D4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E3F25-A41C-4EC0-BADE-B88DF339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Talk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772A5-EA36-43C9-8515-7CBB598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Send messages, mention members, reply to a specific message, and search within a room.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A492B-5610-47B4-9DF8-57913CC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29C33-4DF8-4858-9928-8B730F49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333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1B020-14F1-4DA2-80B4-16836D5A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EEB65-6949-4572-A172-369F487F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AF0D6-F22B-4644-90F9-ABE32BF6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Attach approved image, PDF, Office, or text files within the current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F2FE9-40C3-4BE5-9BBB-9F17D25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861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9CBBA-9C23-4A1D-B37B-C4DED78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333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1576A-02A8-4281-8757-783276E5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8F4FB-461A-4ED5-ABDE-7AC04F0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Moderate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9C958-C747-4024-A212-8DD148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Delete messages according to permissions and keep rooms limited to approved accounts.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85584-4F67-4147-888B-30054DE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AEC41-39F9-4AB2-BD18-EA9A268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BC2C7-8AB1-40AE-9515-6DA567EE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Current attachment guardrails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B49FA-DC43-45B7-BD73-5FBB931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18859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D3362-42F2-44D8-BDCC-16696D7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C64E5-3EAA-4C90-9804-3C726AB9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files per message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D5D7E-6CDB-435D-BBD0-9FB029C1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2862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6C675-DBB4-4601-9095-3D8C83D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8859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5C4B66-840D-4380-8702-AC96684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10 MB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FAD1F-4782-4732-AEEE-93FE10F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per 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A1CD8A-4E6F-472F-AEF9-71A369B9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862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DC608-FA7F-43EF-93B0-C753511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33850"/>
            <a:ext cx="18859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76C2C-3B1D-40D1-9308-7548362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25 MB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F3C1B-BCA8-412E-A6EE-3F2D21E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total message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4706D4-C196-4B8D-B817-E436AC4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862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33477-EFEB-4C8A-BBFC-C6581C91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input also supports Enter to send, Shift + Enter for a new line, and a compact pin-style attachment control.</a:t>
            </a:r>
          </a:p>
        </p:txBody>
      </p:sp>
    </p:spTree>
    <p:extLst>
      <p:ext uri="{BB962C8B-B14F-4D97-AF65-F5344CB8AC3E}">
        <p14:creationId xmlns:p14="http://schemas.microsoft.com/office/powerpoint/2010/main" val="10742600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7D921-5584-46D1-8CAF-6AB43A00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ICPEP CONNECT  / 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3E98F-8BD1-4928-9425-2BB02C28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Sign-in is simple, with role-aware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18ECA-68E9-4078-9C9C-942C5FF2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One account flow supports public browsing, member access, faculty participation, editor work, and administrator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7B78D-F958-4B08-9493-08F181EA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8C3E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8C3EE"/>
                </a:solidFill>
                <a:latin typeface="Arial"/>
                <a:ea typeface="Arial"/>
                <a:cs typeface="Arial"/>
              </a:rPr>
              <a:t>20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C6978-8B0D-43C5-A020-A5ABBB93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0B1F44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47447-7F27-47FD-B7C3-E989E14B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0F310-990C-45CF-AD1C-BE7BF422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417B9-11AA-4EB5-88FD-FC6F16F2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2410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an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F108C-6716-4516-B149-EB722E4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B3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CB3D5"/>
                </a:solidFill>
                <a:latin typeface="Arial"/>
                <a:ea typeface="Arial"/>
                <a:cs typeface="Arial"/>
              </a:rPr>
              <a:t>Choose the account type and submit the required identity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B25DB-FD39-4ED7-97D6-E30C9338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1C06A-1940-4D35-A0DF-E5AC08F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B3A90-7163-4729-B777-FBEDEE4F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Wait for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68180-B9A0-4636-BC2A-468CA28B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B3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CB3D5"/>
                </a:solidFill>
                <a:latin typeface="Arial"/>
                <a:ea typeface="Arial"/>
                <a:cs typeface="Arial"/>
              </a:rPr>
              <a:t>The admin team reviews the request before protected access opens.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2D71B-387C-42BE-B16E-1CD8E5CD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1955B-0A46-40C2-9034-2456D430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247A2-52BF-4714-B88A-0134150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your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11BC2-3BC5-41F0-A62F-82841991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B3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CB3D5"/>
                </a:solidFill>
                <a:latin typeface="Arial"/>
                <a:ea typeface="Arial"/>
                <a:cs typeface="Arial"/>
              </a:rPr>
              <a:t>Student, faculty, editor, and admin roles reveal the right capabilities.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64908-2572-4256-A4C3-0705C0AE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0767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02956"/>
          </a:solidFill>
          <a:ln xmlns:a="http://schemas.openxmlformats.org/drawingml/2006/main" w="9525">
            <a:solidFill>
              <a:srgbClr val="3E5F9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FC098-3499-4521-9781-E2C43C4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Role-aware by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281EF-2CDA-4ED9-9054-310BC6C5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08E01-0301-4C95-9893-FEB6B93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3E0F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3E0F6"/>
                </a:solidFill>
                <a:latin typeface="Arial"/>
                <a:ea typeface="Arial"/>
                <a:cs typeface="Arial"/>
              </a:rPr>
              <a:t>Public pages stay 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59CCE-1F3B-42AB-BED5-1A328E76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FC49A-C713-4900-8F42-6FFA0628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3E0F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3E0F6"/>
                </a:solidFill>
                <a:latin typeface="Arial"/>
                <a:ea typeface="Arial"/>
                <a:cs typeface="Arial"/>
              </a:rPr>
              <a:t>Student and faculty use protected resources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F359F-66A8-4960-A23F-6E51483C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353EB-E512-4842-A916-1D24CBB5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3E0F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3E0F6"/>
                </a:solidFill>
                <a:latin typeface="Arial"/>
                <a:ea typeface="Arial"/>
                <a:cs typeface="Arial"/>
              </a:rPr>
              <a:t>Editors publish assigned 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2D54F-3838-4932-A8BD-03E3620E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445B4-7C07-4D44-B091-FC25FD0C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3E0F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3E0F6"/>
                </a:solidFill>
                <a:latin typeface="Arial"/>
                <a:ea typeface="Arial"/>
                <a:cs typeface="Arial"/>
              </a:rPr>
              <a:t>Administrators manage people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596895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DDD52-2C32-47BE-95D5-BF03EF76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D5834-11A5-413F-B743-D4D4A6D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Student sign-up: identity first, access second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1BCFC-55C9-43F6-A5E8-BBD1046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Students provide the identity details needed to connect the account to the organization, then wait for admin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5D5D0-7FF4-45AF-B487-1729ED94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21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77C93-5B8A-491A-A258-1282A8D2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5720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A6881-7AC7-49FC-ACCE-42A69425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STUDENT SIGN-UP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5F97D-2151-4274-8943-DC1D3A5F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Full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BF9A1-33F6-4A99-A9EF-A8969729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9825"/>
            <a:ext cx="20002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6421B-AF3C-435B-B72D-4E05A29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Student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E246A-CBA1-4D14-9026-BF4AE54B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9875"/>
            <a:ext cx="20002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C5937-FB87-47FD-94E5-6C509B6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Year level  /  1st–4th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ABD44-F67E-4B21-AFA9-CAFAA069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20002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5F01F-501A-489F-9F52-A4A9CC0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Regular 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EFB58-2000-4A06-B2ED-98751B8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9975"/>
            <a:ext cx="20002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DC160-5227-482D-AC3A-243B0CB4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Password  /  8+ characters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C9145-4DA7-4FBE-8AF9-C917F89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0025"/>
            <a:ext cx="20002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FAC43-67B2-4876-A390-57310D1E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Confirm password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62426-E7DA-45D5-81C5-0C4BC685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20002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0E58C-4595-4C57-83CC-B9CD358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3829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49197-0C17-4694-B524-601607A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3829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 for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E5B72-6BBC-4347-A819-0048E95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How to use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69A29-0A72-4331-813C-D291E718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A4028-9BE3-4099-92A8-D76F865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Open Account and switch to Sign 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66BDC-5011-47DD-9F63-FBFE7D2E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5C8F0-0B0D-4F0B-9896-9C08F1BE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Choose Student and complete every required field.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B0C6E-CF91-47E7-A45A-55B2E754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0940C-6422-48BF-A093-0DD56C33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Use a working email and a password you can remember.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AAB0F-86B3-4B63-92A8-53D396C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52371-E5A6-4E5B-A56A-873482FD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Submit once; approval status is shown in the account area.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BEFEE-8361-498C-A60B-10141C6D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E92CB4-C6A5-4054-AE6D-CDD158F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After approval, sign in again to reach protected tools.</a:t>
            </a:r>
          </a:p>
        </p:txBody>
      </p:sp>
    </p:spTree>
    <p:extLst>
      <p:ext uri="{BB962C8B-B14F-4D97-AF65-F5344CB8AC3E}">
        <p14:creationId xmlns:p14="http://schemas.microsoft.com/office/powerpoint/2010/main" val="4903397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CFA461-DC92-4F1D-B9E3-4E1A1404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8E33B-E887-469C-BA37-76B0EBC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Faculty sign-up: regular email, same approval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50A3E-45CD-4462-9BE5-957ACD47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Faculty do not need a student number or employee ID in the form. The account is still reviewed before member access is granted.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53EC6-0048-4BAC-B94E-6B7B8E36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22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D9E78-CC6B-4131-9CAC-F7E9D72B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A813C-1F53-419B-AEDF-36A5C647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FACULTY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99DB6-540B-48E8-8005-AAF675C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 lighter sign-up form</a:t>
            </a:r>
          </a:p>
          <a:p xmlns:a="http://schemas.openxmlformats.org/drawingml/2006/main">
            <a:pPr algn="l">
              <a:defRPr sz="23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for a different role.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5B7BA-9EB0-486B-A46A-AC2798F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Required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472AD-4A09-4837-B0BB-4BA89FAD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F8A10-2FEA-40F2-A38E-5A01E86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Full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03758-38CF-4D65-8F13-486F389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3465F-EECE-4770-ABBC-58C9BFA4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Regular email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6B7D4-99BD-40C1-BCE3-ACE3DA0E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5007B-D8B3-452B-94EE-6B020A4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Password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FE86F-D914-46DD-8963-30D656F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97106-F3FD-40A0-B74F-EFD4FD81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8632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Confirm password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B599A-A69F-4DB2-96F8-B45C2F0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No employee ID field is needed.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3F372-012A-4032-A762-F32ADFE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Approval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AAEFD-63FD-47B4-A7A8-AFDA41C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4B2BD-33CA-4321-A93D-92A55EC2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A292A-E1B3-4E28-87F9-C50CA50A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Faculty submits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EF7CB-3DF1-4CF3-83F1-BB746790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form stores the request using the faculty role.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13FA7-CA6B-402B-9140-A65EF8DA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05A87-314C-4E77-971A-3539B90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2830A-0FF6-4910-9A6D-9B60C67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Admin reviews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47673-5380-4F28-BF1F-9298570D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request appears in Users &amp; Roles alongside student requests.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F3EB0-0E02-41D3-BCAF-EBB90754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DC75F2-76BE-4A0D-9476-C6D81BD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767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AACEC0-7EEA-4A0E-90DD-A1B9C641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Admin decides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369721-8084-4EE2-8D75-7578D5D5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Approve, suspend, change role, or delete the account as needed.</a:t>
            </a:r>
          </a:p>
        </p:txBody>
      </p:sp>
    </p:spTree>
    <p:extLst>
      <p:ext uri="{BB962C8B-B14F-4D97-AF65-F5344CB8AC3E}">
        <p14:creationId xmlns:p14="http://schemas.microsoft.com/office/powerpoint/2010/main" val="16706813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960005-9B48-4B39-AEEE-9AE15281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03C3-F2CA-4DF7-9D55-01B489B6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Account area: a personal control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0D867-3DC3-4B2B-9C86-164574B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Once signed in, members can see their status and reach the parts of the site that matter to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9C43B-9367-42AB-82CE-2C3C0F0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23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F0D64-8CE2-4D9C-BF6D-5476A69C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7CB45-EBAD-4935-9C0D-A2E10A6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88846-8024-428E-B419-93F504D8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191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07E3F-97DD-4FEC-94B6-82195CC5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2D020-6735-4C1C-8E37-C2FE4E55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53A38-5EBB-41F8-8688-A8233B16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7D748-8F14-42E8-AF8D-8D2EAA1C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527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Account  /  member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5DBD0-6141-4CBB-8504-D2C77D1F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7340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133D6-A345-4B66-8BA8-E3AA4EF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0A9BD-9EB1-4AA3-B38D-321EF8F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RVIN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8AB8C-121B-4FEE-81B1-509369E0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Welcome back, rvin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33533-E4BD-4A79-A766-EEA2EA7D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1447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B6EC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35E1-EBFD-444C-8B80-E2558ADB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Approved member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BA5AE-E84C-42E5-8C2E-23D9F89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7145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8F175-623A-4482-B785-18959F0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2D318-4391-43E6-92BD-1C5170C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347A9-923D-446E-A19A-098CC56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Nickname, avatar, and sign-out.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D14E9-9AE9-4DBE-98C9-DE28B6A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579E8-79C8-484F-A15A-A27F00F8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76600"/>
            <a:ext cx="17145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2CB8A-CE40-4CE5-A1DE-628AF794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E3C8F-F14E-444C-9246-6BC10A3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90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Updates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1F39D-70BA-4C90-87BE-BED25BD2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71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Announcements and events.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AB4B3-0276-4B56-AC99-081BCECD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958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36000-6050-400C-A31B-EF0E5529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17145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7BB34-9915-43E4-AA12-DC863830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48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3FEE94-ADD7-4CC7-B067-8398A68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0C4A5-CDB9-4B6E-96AA-37D496CC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Portal and community links.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ACB06-5C04-49FF-9462-5B060A3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D4E91-DCAB-4BA4-ACD0-F48E681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Member habits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763542-74B7-49D4-B7F0-96B2175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1A60C-9367-408E-93E4-3611CF87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Check approval status after sign-up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113618-622A-49CB-8289-F9CE36F1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FC351A-F320-4C4D-8B8D-67447F6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Update profile information when needed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40574A-C1CE-4E36-B939-F64F16F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505DFB-5650-4569-9024-C2D1ECFA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Use the quick actions to return to protected tools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AC64C3-2CDF-4F88-809D-0C237BE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B2E1BC-97C1-4AC0-9DCA-3C9C24DD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Sign out from the account menu when using a shared device</a:t>
            </a:r>
          </a:p>
        </p:txBody>
      </p:sp>
    </p:spTree>
    <p:extLst>
      <p:ext uri="{BB962C8B-B14F-4D97-AF65-F5344CB8AC3E}">
        <p14:creationId xmlns:p14="http://schemas.microsoft.com/office/powerpoint/2010/main" val="16606054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75686D-17B4-444A-8289-E474961F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ICPEP CONNECT  /  ADMIN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D40B1-98D2-450D-A802-AE9BAC97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24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 Dashboard compresses the work into one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201A9-D58B-4ADA-9600-3C64364E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The admin side keeps the operational surface compact while still separating the responsibilities of each editor area.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A0F2F-F8C6-4B0E-A94B-B3F381B6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8C3E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8C3EE"/>
                </a:solidFill>
                <a:latin typeface="Arial"/>
                <a:ea typeface="Arial"/>
                <a:cs typeface="Arial"/>
              </a:rPr>
              <a:t>24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94ADE-B5E4-42C3-B412-CC1E583F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81250" cy="3429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44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BABE5-6109-4F92-9A2F-701DA62B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9B29B-6A95-4AE8-8822-B19AD96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6053-69F8-4DE8-A20D-D0747D11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6CE8D-C241-4DAA-94CC-726FBBE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DD2FD-926F-4B20-8993-A197C16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8DDE6-26A6-4C99-9B91-5EC613E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587B0-F844-4215-AC26-7A3CA25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Announcements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7970B-5624-494E-A6B9-720B60B9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4C433-9B24-46F3-A23A-E96E558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5BC97-4D19-494F-85E5-E6A30799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CD15C-6681-4D00-9A24-0FEFCA43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5D169-1474-4F98-B996-507F7C7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79D1F-8E7C-42FA-8B77-A768A5AE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News &amp; Gallery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1076F-7535-4170-8B67-D5D026B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03686-209E-447C-883C-5444837C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0BFA6-CFCC-47E2-97CF-D2A8E0C4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About Content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CC2D4-A80E-4423-84C6-B97EA6F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652D5-35E2-45D3-8540-5025CBEC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CF11E-F352-43A5-AAAB-24D95824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Alumni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69061-4643-4933-AF6E-FE036BD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10E87-487C-467D-844B-DF1EAA3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DC1324-E5B6-415E-929D-2D42041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3827D-C14A-4820-9FDB-12BCC6C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0F0E7-B128-4E34-AF41-B5E63C6E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C5302-23F4-4B9F-95AC-AD53963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EAB89F-4753-4A31-AC8E-49DFCE6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95BBA-882F-4404-826C-79C9003D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3A6F2-FE62-430B-8158-BE6DBE0B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47535-2F45-416E-9644-683E6CBE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9240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FAB5A-5939-4FFE-AD8C-4154120D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B5C1F4-69FC-47F2-814F-1A26C47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Users &amp; Roles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618398-E8AC-4D71-835E-9B58DED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66900"/>
            <a:ext cx="83058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956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2ECC4D-5AE2-4121-A395-CC7FC8FE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DEF9A-95FE-4732-9650-75BF480D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the work at a glance.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CDFF83-4E9F-4CCF-B15F-79E6AB64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The overview surfaces metrics, activity, attention signals, and role context before the editor opens a specialized section.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DC24DA-3E3B-4F57-91BF-5AF4739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F44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737C12-19BD-49BE-B0BA-CA1377F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38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05BCE0-7FAD-4020-86F4-01F1537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19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editor areas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69C5D7-8C13-490E-B9FE-6F1320E2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DF1C67-03F2-43B7-914B-3A721F7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F44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EB2D2E-076E-4EF9-9CFD-8E95251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38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C49631-EF2E-421B-B612-1F4E226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19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active roles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7757BF-6FF5-43F8-876F-12509279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8EBD1F-CCF9-4B31-A31B-E7E407B9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0525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B1F44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7BB4F5-5B65-4325-A478-E9C3430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73D63E-BA39-4CAB-8900-A926E8A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compact sidebar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6406DD-E462-4140-8168-6791CFB0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F43DD3-5DF0-48EC-8B19-B0B7761C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5300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CB3D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CB3D5"/>
                </a:solidFill>
                <a:latin typeface="Arial"/>
                <a:ea typeface="Arial"/>
                <a:cs typeface="Arial"/>
              </a:rPr>
              <a:t>Admin access is protected by role checks and a dedicated route.</a:t>
            </a:r>
          </a:p>
        </p:txBody>
      </p:sp>
    </p:spTree>
    <p:extLst>
      <p:ext uri="{BB962C8B-B14F-4D97-AF65-F5344CB8AC3E}">
        <p14:creationId xmlns:p14="http://schemas.microsoft.com/office/powerpoint/2010/main" val="17096073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79309B-9D80-47C3-805E-939554D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ADMIN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08C8C-0B84-47B4-B519-934541C7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Editors can publish content without touching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A657F-8384-4EE4-B2F2-32C9F3E4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Each section is a focused editor with the right fields, status controls, and feedback states for its content 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183B-B13A-43FD-A0B6-339246F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25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F0BE5-0CC5-42BE-85C6-A17AE669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9B367-CFEB-4CD6-9D18-9B4538B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33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894D0-B6A8-4553-87AF-45D2FA0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Announcements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0AC1-F930-44E6-9BA0-FEB93F4C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Create, edit, publish, archive,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22010-1E3C-406C-AEDB-7DCFCD7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9B67E-168D-40EE-9802-0582A4A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133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38E63-C705-4D2F-B30B-6634DF4E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38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87801-64D1-440C-A7AA-6FFF5712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Schedules, venue, registration,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8BC77-047F-4691-8E30-62BB8C69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C6ACA-CB8C-4E00-A4A4-260FE0E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133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AB5FD-E166-4491-B9A9-DC47C5B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News &amp; Gallery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3E2D8-1281-4D30-9CF2-A30C893A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Stories, albums, cover image, ordering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1CF53-DCE6-438C-8D42-2C1B456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9DC36-422E-43D7-A967-A8DD487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33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1BC6D-DA01-41A4-9A0E-8CF420C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About Content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AF801-FDDD-4AB4-805B-1786F50F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History, contact, faculty, officers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89C1A-23DC-4709-AC53-45EFF71D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F2781-BE7D-4834-84AC-BFBE1AC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133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9EA00-3B07-40D3-827D-413749BC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Alumni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48B9C-7469-4BF2-BF23-E7F1AF32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Profiles, batches, achievements, leadership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15E1D-25E6-488E-8CD3-B7C173E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98B9B-F2F1-4467-B27D-10D079A3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133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F041F-6205-411E-A30D-BDFBA3A5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9DADC-E82D-482A-BCC1-8A8C05AA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Documents, metadata, archive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7C26C5-A6FE-42DC-A6CE-3FA5AD1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EB615-15F9-4816-A61D-01CD722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Common editor rhythm: open section  →  edit record  →  preview  →  publish  →  verify on the public page.</a:t>
            </a:r>
          </a:p>
        </p:txBody>
      </p:sp>
    </p:spTree>
    <p:extLst>
      <p:ext uri="{BB962C8B-B14F-4D97-AF65-F5344CB8AC3E}">
        <p14:creationId xmlns:p14="http://schemas.microsoft.com/office/powerpoint/2010/main" val="10597164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8EB9E-037A-43DF-9E0B-289B5E28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ADMIN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8E17D-0356-4D7D-BE9F-DDD87AF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Media workflow: crop, preview,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D353B-1470-4DE9-B579-307C7268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reusable photo tools make visual publishing predictable across news, gallery, event, faculty, officer, and alumni surfaces.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EB14A-E24E-44F6-8D49-2D13E72E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26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6DB6D-77FA-4AA4-9F2A-80CFC8C5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3448050"/>
          </a:xfrm>
          <a:prstGeom xmlns:a="http://schemas.openxmlformats.org/drawingml/2006/main" prst="roundRect">
            <a:avLst>
              <a:gd name="adj" fmla="val 6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86024-BCCE-4CB0-A859-4537759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2D242-0FAF-49F7-A53C-D15FCA0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65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9506B-B1F5-4568-973A-C7A3DE96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F6AD0-FD2A-4F9F-AC45-27235047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Choose the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7A1D4-45E7-4526-AF79-E0FCBE97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Keep the full upload for detail view and future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BBF3E-E3B8-4A0A-9BD0-99FCE72B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75576-E54A-4E83-A00C-9F60426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80B8A-86A5-452B-A64D-9AE9DB09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58A74-226E-4A1E-977B-5AD3DD3E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9080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692BD-64BD-4AA9-AE28-D317191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Zoom + 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81B6F-074C-4866-81B9-7B08D112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Move the focal area inside a defined aspect ratio.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8D82F-DAC2-4167-9D9A-2568EE5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7253B-E249-4B62-B6F4-E581DC1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27A73-A864-429A-BFCA-106B2CA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D3BB2-7805-46B6-B170-33CE61E4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937BB-1BDE-4F8F-999A-EADF3A5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See the card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FFAF3-245B-4ABE-BE6B-AD566C81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Check the crop inside the actual published treatment.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3520E-2E5C-47E8-983E-A597E6C5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B3058-3591-4790-90A4-B62576CF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B9D5C-089E-4496-B46E-7582ACA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5"/>
          </a:solidFill>
          <a:ln xmlns:a="http://schemas.openxmlformats.org/drawingml/2006/main" w="9525">
            <a:solidFill>
              <a:srgbClr val="17B89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E0055-52FA-4459-B8D5-96395998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4EDA1-9432-40E9-9526-C9F23C9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Save the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1EF6D-53C6-4A97-92D8-EFFD6BB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Use the edited card image while preserving the full source.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4D019-C6A7-4A24-81F0-8327400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Reusable components keep the interaction consistent instead of teaching editors a different crop tool on every form.</a:t>
            </a:r>
          </a:p>
        </p:txBody>
      </p:sp>
    </p:spTree>
    <p:extLst>
      <p:ext uri="{BB962C8B-B14F-4D97-AF65-F5344CB8AC3E}">
        <p14:creationId xmlns:p14="http://schemas.microsoft.com/office/powerpoint/2010/main" val="5325205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99866-E011-47E0-8989-60060201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ADMIN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3A18-D242-4D40-A29D-05000118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Organization and alumni content stay structured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1EDB3-67FD-4E13-8352-C656B43D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People records are handled as data, so cards, profile pages, and future updates can stay aligned.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6245-5F2C-4101-9564-B59EBB1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27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F220A-A057-442C-B4CF-ED236D72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4350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B167C-543B-4AB5-BD48-11FAAE5F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ADC84-61A7-4D0D-8CB8-03BF5CAA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Organization editor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F5405-8FE0-4D58-A4DA-45A28DE5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762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Maintain profile details, history, mission, vision, contact information, homepage stats, faculty, and officers. Positions come from selectable lists, and portraits support zoom, crop, preview, and initials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279E9-3331-4F16-8DF5-0AFBD0D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AEB96-2BE0-4DF4-BD38-B352652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514350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33A59-1404-4F19-9CF4-F68182E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F4157-6BEB-43F0-8226-E17E6077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Alumni editor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3F21A-6146-4E1D-9DFD-E3F1F4F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62250"/>
            <a:ext cx="4762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Search by name, work by batch, edit achievements line by line, add multiple leadership backgrounds, feature spotlight profiles, and keep consent-aware public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9A700-A56D-4D55-BA5D-1B405AF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1A68E-94F0-4E4C-8EF6-7DCBC34B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BDAFB-2764-4F80-A059-202CCC5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Structured records make presentation a rendering decision, not a manual formatting task.</a:t>
            </a:r>
          </a:p>
        </p:txBody>
      </p:sp>
    </p:spTree>
    <p:extLst>
      <p:ext uri="{BB962C8B-B14F-4D97-AF65-F5344CB8AC3E}">
        <p14:creationId xmlns:p14="http://schemas.microsoft.com/office/powerpoint/2010/main" val="15795348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961DD-2D12-4A50-9670-19EA0A19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ADMIN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1CAD1-939F-4DDC-8F0F-D5B6A79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Resources and audit records keep their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87A44-3382-443A-8B0F-A4D6C6E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editor captures enough metadata that members and visitors can understand a file before opening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0DDBD-7CBD-4F7B-8484-2AE895B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28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614EE-3921-437B-8F6C-5CEABA11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19700" cy="348615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BAD6D-6DC2-4025-A76E-7A2A4051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15FCF-F89F-4F71-955B-57DCE5E3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23CAE-173A-449A-BFA6-E3FEBB68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Upload a file or provide a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4007-BDC2-45E6-BB3B-9AB6E61C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CA865-9557-4DEB-ABD8-9687355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Choose category and audience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991F2-1331-4FC6-909C-F8BB7D4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CFD03-8736-41BC-A136-6C62457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Add description, course, year, and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C5F80-86A5-4F0E-8391-6536CEC6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FCD0D-E36F-4E80-ADEE-45283A84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Move records through draft, published, and archived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A2417-FAF0-48A0-95C1-DFEC9CC2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809DE-F103-4ADB-B8AA-EA43E9E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Keep PDFs viewable directly when possible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7EEE4-AEA7-4AC7-BCCF-A11C8545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5238750" cy="348615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A6B8C-1932-4D71-99DA-1FABB9B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40002-AC60-4AEF-A33C-0678405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9776E-EB43-4D76-AC60-C890F0B0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Choose the archive 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52160-FA59-47CD-9BDC-CCACC7A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64255-43CB-4E27-A1AE-5BAC1F6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67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Add period, published date, title, and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0A8E7-5E3B-4A1D-96CB-760B49B3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44600-DD14-4E4D-84BF-FC52B4F8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Capture financial fields when relevant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27ADB-8FC5-476F-9BE4-0BEA3035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2008D-1750-45C2-B946-0C0EDE9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57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Prepared by, reviewed by, and approved by are optional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9EF928-8871-4FF9-A24B-6A9AA25E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6F842-537B-4664-B7CE-A8F5879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Publish only reviewed public records</a:t>
            </a:r>
          </a:p>
        </p:txBody>
      </p:sp>
    </p:spTree>
    <p:extLst>
      <p:ext uri="{BB962C8B-B14F-4D97-AF65-F5344CB8AC3E}">
        <p14:creationId xmlns:p14="http://schemas.microsoft.com/office/powerpoint/2010/main" val="1047819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97DE3-5EA4-4E1E-ACD7-7916402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ADMIN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D0289-F9DA-4DBC-91ED-8249AA4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Users, roles, and team ownership protect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404D-4017-430E-B4A9-6A15562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Administration is also governance: deciding who can enter, what they can do, and who owns the next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7B5AC-ABB4-4182-8913-C9955067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29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18C88-E0F0-44F3-83DC-2584A54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333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EFD09-0524-4EB7-8368-22CF6808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0DE8D-A254-494E-894B-8D07EC71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Users &amp;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43CAF-C0EF-4D4A-BAD6-68C0319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Search and filter accounts by status, role, and year level. Approve, suspend, change roles, or delete accounts. An admin cannot delete their own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7E0C2-5FDD-40DA-8E26-81130171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F8F0F-A9B2-4021-843E-7293573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EC016-C072-42C0-A9D1-D94B79D5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084C3-339C-4DFC-9FA6-A197E35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Role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348D6-3D9B-45BE-8C2A-8E3010A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Student, faculty, editor, and admin roles separate member access from publishing and system control.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83CCC-CD3D-456B-BB4D-A569F7C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672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EEB1E-F324-4F5B-A888-2D6B63C7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3333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DA6D9-E575-414F-9D58-07CBDFB7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3DBF8-86E0-4263-B019-17A6D79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6DF1B-B6C1-451D-91FA-70B1384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Assign editor tasks with status, priority, due date, and familiar profile context so work does not disappear into the interface.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B631A-02A6-4903-B68F-73150C3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93295-19E1-409F-9C49-3FA96106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AA658-6ECC-4A5B-B784-E037227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036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Governance loop: request  →  review  →  approve or reject  →  assign access  →  audit the work.</a:t>
            </a:r>
          </a:p>
        </p:txBody>
      </p:sp>
    </p:spTree>
    <p:extLst>
      <p:ext uri="{BB962C8B-B14F-4D97-AF65-F5344CB8AC3E}">
        <p14:creationId xmlns:p14="http://schemas.microsoft.com/office/powerpoint/2010/main" val="4816272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FB869-2128-4AF2-9DBB-889D831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EXPERIENCE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2C42C-CDD9-493F-AC7C-82625AEC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The design system is built for clarity under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23C6C-B229-441A-8AF1-D28AAD5A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Visual polish matters, but the useful part is consistency: people can predict what a control, card, or state will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3D26A-618B-46B6-8414-28E4866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30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DBE7D-1105-412E-913E-19679B67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3BDD2-9BAB-4B57-94E7-F3A06BA5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59CEB-6CE2-4E93-88E4-87B64AE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Readable hierarchy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DD0E0-9E8E-4143-806E-D14C2FE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Strong section labels, compact metadata, and predictable card alignment.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6F98A-3ADE-438A-8DAD-7AD9E32C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20C95-F2A9-4F32-A0A1-87C93F6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5FFD9-4269-405F-A62B-AE13055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5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Responsive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78F8E-4D9F-4F26-8F15-AEF6438B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43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Desktop and mobile layouts adapt without changing the underlying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B2B7C-DE30-4DCD-8BF8-2CB9273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301DE-5A34-4B35-817A-95E1F73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8FABB-295B-482C-8695-424A5D8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Dark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21CB4-D81A-40D5-8119-4C5C459F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Surfaces, borders, chat bubbles, and forms are tuned for contrast in both themes.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EE5DD-2408-4973-9111-9504BEA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FB2C4-1D44-4142-BF1A-4CC0C19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30765-A748-4EAC-843C-A8817D7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Accessible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8E013-FAF6-457C-AE29-874B55A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Labels, focus behavior, alt text, keyboard controls, and reduced motion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24FDE-A5A8-4DF4-A447-C41CEC74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583BA-E018-4459-813E-87B3177D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EFFD2-CED0-461A-91DF-C67D451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86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D9CCA-CB31-4476-9A70-66F00493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719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Lazy routes, loading skeletons, optimized image behavior, and controlled animation.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6C2CB3-C405-42C0-9799-6CB48DF1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33337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95610-A9A3-43C4-B86B-202F9D07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946E6-970E-446B-BF55-E72B3B6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Fallbacks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D41AA-415D-4D46-A195-8AC562FF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2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Initials can stand in for missing photos, so content does not break when media is absent.</a:t>
            </a:r>
          </a:p>
        </p:txBody>
      </p:sp>
    </p:spTree>
    <p:extLst>
      <p:ext uri="{BB962C8B-B14F-4D97-AF65-F5344CB8AC3E}">
        <p14:creationId xmlns:p14="http://schemas.microsoft.com/office/powerpoint/2010/main" val="63465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4349A-DF10-4DD9-A64E-7ACA2EE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EXPERIENCE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C6BF4-6335-4D77-86AA-7261B0C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Small details make the portal feel 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1B589-A826-49FB-9EEA-E9A7F63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The interface has a quiet layer of delight: motion and character that reward attention without taking over the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9B4CF-57E2-452D-BF99-CA8F1228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31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46998-3FAE-47A6-BB6E-39654DEB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3467100"/>
          </a:xfrm>
          <a:prstGeom xmlns:a="http://schemas.openxmlformats.org/drawingml/2006/main" prst="roundRect">
            <a:avLst>
              <a:gd name="adj" fmla="val 6044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0A7FE-701C-4276-BFA2-95C5E53A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B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B8FF"/>
                </a:solidFill>
                <a:latin typeface="Arial"/>
                <a:ea typeface="Arial"/>
                <a:cs typeface="Arial"/>
              </a:rPr>
              <a:t>HIDDEN ROBOT BUDDIES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EE9D3-DF97-44AB-BA65-3673010B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distinct designs.</a:t>
            </a:r>
          </a:p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per chosen card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93F05-1111-4252-9C06-081C843F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They randomize their card placement on reload, move along the card outline, emote, and animate feet or booster fire when the design calls for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8B09F-39D7-4102-A552-A285B19E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7A"/>
          </a:solidFill>
          <a:ln xmlns:a="http://schemas.openxmlformats.org/drawingml/2006/main" w="9525">
            <a:solidFill>
              <a:srgbClr val="2B57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38518-592D-4C3F-90CE-5AED861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9D2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9D2FF"/>
                </a:solidFill>
                <a:latin typeface="Arial"/>
                <a:ea typeface="Arial"/>
                <a:cs typeface="Arial"/>
              </a:rPr>
              <a:t>DISCOVERABLE, NOT DISTRACTING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6D345-A147-4CC3-AB16-1EE8AD4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876800" cy="3371850"/>
          </a:xfrm>
          <a:prstGeom xmlns:a="http://schemas.openxmlformats.org/drawingml/2006/main" prst="roundRect">
            <a:avLst>
              <a:gd name="adj" fmla="val 62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7276E-6753-4FDD-B84C-18CDEDB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28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OTHER POLISH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98155-6B19-4886-A70B-E60D9259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2000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10E6C-AE86-4166-806A-48C85F34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00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1D7DD-8DCB-4ADD-AAF1-464A9F72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Notification popup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5AF1E-AEEB-4A70-808E-9D18F713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87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In-app feedback, not browser prompts.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A8EF9-056B-4FBC-87BD-B8B057E9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00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0B57E-FDFE-41FF-8105-C858E8C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D843E-2685-43BD-9418-CEAEDAFB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Initials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50BCB-283D-40AD-B380-F1C60540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91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People stay visible without a photo.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C1556-8DB5-466A-A0E1-5F9D9616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2000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6AB8D-DEAB-4099-A7A1-D648C16A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51DF1-394C-45A1-978C-3010FAA9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14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Living cards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E28AD-8554-427A-82B1-FA4EBF0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95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9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Hover, reaction, and preview stay aligned.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29DA1-A118-43B2-A629-029B4CB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000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27E0E-1999-4AE7-B3C1-B4845F54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1C22F-04E9-4596-93D9-B6B55D25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Controlled motion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5DA84-3FF5-4C87-9042-78E23DCA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95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86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Motion respects reduced-motion.</a:t>
            </a:r>
          </a:p>
        </p:txBody>
      </p:sp>
    </p:spTree>
    <p:extLst>
      <p:ext uri="{BB962C8B-B14F-4D97-AF65-F5344CB8AC3E}">
        <p14:creationId xmlns:p14="http://schemas.microsoft.com/office/powerpoint/2010/main" val="1437873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8A4F1-5F98-45C0-B956-970F0DE7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HOW TO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49D3B-D6D8-4E50-B04C-60B153D1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 member’s path through the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DA40F-DA72-4C12-AD8E-508B452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 practical walkthrough for a student or faculty member arriving for the first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F97EA-3803-4957-A060-FF73B7B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32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D7C75-BEF3-4D78-9E7C-67088EF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8F0DD-C641-4A2F-AE45-679EE7EF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BE25-1B97-4DA7-9B41-D9A2419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D2337-63D9-4FE8-9E3E-48941581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662C8-B468-4A0F-AADE-A42B741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Start at 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D7F95-349D-4035-936D-B93EE73E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Understand the organization and scan current highlights.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0DB6A-8565-4991-9B68-069247F9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F2A8F-F9C4-45FB-8159-C6F3365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B436C-5A29-4720-8B5B-976094B7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EA709-36C7-4AA5-8DBD-EDA5B106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16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Browse public 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B78F3-5DC1-4415-8031-EFBECA1B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Open announcements, news, events, alumni, or About.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45107-4953-4F34-95C9-9BF0F8F0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4A7D8-3B44-49A5-9608-F9BB72B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5022F-DB47-4F25-96DD-AE752427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9557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E3B08-4469-41CD-B5EF-A53ECAAE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Create an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2E9DF-2C39-439C-AB0E-E96A78C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433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Choose Student or Faculty and submit the regular email form.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FFA9C-80D8-4E93-B2D1-3B221B7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F8CB9-FEA4-48A9-81E5-6DC9AB78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19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1E989-6C88-4097-A976-30CD8ED6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9557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F3474-F00B-494F-9106-5566026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Wait for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0CF24-FE90-4128-BA77-97F25CE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Check Account for status while the admin team reviews.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D1E9A-A04D-4CFD-B9B5-9EF865E7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76A2D-4603-41BB-97A6-0E2D51BE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19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E71FF-90CA-45D0-87DA-D9E7A96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Use protected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C1FC4-92F2-4CA9-A62C-00532F9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Enter Student Portal and Community Hub after approval.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1740E-8363-4655-8142-FF26CCCE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01727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944B2-9F91-4663-8C2F-DA759F26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975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Shortcut: use Account for status, Student Portal for files, and Community Hub for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8166706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098F4-F81B-4B33-A657-107E876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HOW TO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73EE2-4031-41B3-B165-1996B18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An editor’s path from draft to published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1F6FF-4F36-4EE4-A874-D1F416F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 repeatable publishing routine helps keep the public site current without losing review discipline.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BE499-9445-4049-9206-97F3CD9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33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6291D-CCDE-4B04-A8FF-B409797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48615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797B0-ECC4-46F3-B028-4584DCE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B6CF6-A6C4-4EDF-BB3D-CB398B8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C064-3A56-475C-A194-DF8714C6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3B442-0E30-41C6-B505-2B477923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section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D40EB-62F2-47AF-B4C7-73F483B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Choose the content area from the compact admin sidebar.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53D5-DD8F-4C38-BFF2-B91C5B50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55F9C-F8CD-4C98-AA2C-F6E07E9E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384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57984-4F19-4B88-AE1C-FB1F0170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BE6C4-A55B-4BAE-84F3-28B78522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or 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6EC88-5A8A-4DF8-BC70-4117FF7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Enter the required record details and optional metadata.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FA0D1-6567-41FB-8D98-5164FC5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AD0E3-9395-483F-9EB0-12697AE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384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EF36F-1929-4103-B65A-588FA8DD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146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61D3F-0A15-4560-9BEB-FF08099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Shape media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AAF4A-49D0-4544-865B-8C0A8C8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Crop, zoom, and use the published preview where photos apply.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6ED54-4067-4C07-AE15-985448E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580C2-FFE6-467A-A2A2-305981CE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C1741-B97E-4496-A805-204B5D61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146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28A7B-EB3C-4D2A-8436-ADEA6CF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64EA3-14BB-4A93-B567-6B6B113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Keep drafts internal until the record is ready for publication.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32F20D-EF69-44C2-B250-4680B91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95042B-6CA7-49B4-83C6-46486E29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384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A6B7A-D67B-4EE6-BF4A-E76AA9E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3D79F-D8C5-4316-864B-EF190C5B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Open the public page and check the card, detail, and mobile treatment.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78406-38DF-490A-B6E0-F97A6F9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01727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02956"/>
          </a:solidFill>
          <a:ln xmlns:a="http://schemas.openxmlformats.org/drawingml/2006/main" w="9525">
            <a:solidFill>
              <a:srgbClr val="3E5F9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857-CC0C-4522-BCC4-1616FFA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975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3E0F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E0F6"/>
                </a:solidFill>
                <a:latin typeface="Arial"/>
                <a:ea typeface="Arial"/>
                <a:cs typeface="Arial"/>
              </a:rPr>
              <a:t>Quality check: alignment, copy, image crop, metadata, and permissions should all agree before publish.</a:t>
            </a:r>
          </a:p>
        </p:txBody>
      </p:sp>
    </p:spTree>
    <p:extLst>
      <p:ext uri="{BB962C8B-B14F-4D97-AF65-F5344CB8AC3E}">
        <p14:creationId xmlns:p14="http://schemas.microsoft.com/office/powerpoint/2010/main" val="17128207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3AFE6-5682-4960-B0E5-D9ABB16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ICPEP CONNECT  /  HOW TO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D6204-70C7-45E9-AF47-3F1D97F3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Quick reference: what to do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B7CA2-0470-4FF2-B851-791D3B6B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A closing checklist for members, editors, and administrators.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D372-60FA-4FFB-B18C-DE522AD0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57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34  / 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791A7-777C-40C8-84B6-73FE723B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3375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AD18C-B541-45A4-896A-4A13EF3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65DFF"/>
                </a:solidFill>
                <a:latin typeface="Arial"/>
                <a:ea typeface="Arial"/>
                <a:cs typeface="Arial"/>
              </a:rPr>
              <a:t>MEMBER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34BAB-93B7-4535-B4BD-E784CD7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 need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978A7-9ECE-4524-BCA0-A3CB4D4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95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Start at Home. Use Announcements for changes, News &amp; Gallery for stories, Events for schedules, Alumni for the yearbook, and About for organization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0471F-850E-48F2-A6A1-C31E064A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98958-7FB2-428F-BFFB-F267D4F1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33375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F9D68-48B0-448D-AA71-891BBB12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193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B89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B890"/>
                </a:solidFill>
                <a:latin typeface="Arial"/>
                <a:ea typeface="Arial"/>
                <a:cs typeface="Arial"/>
              </a:rPr>
              <a:t>MEMBER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F9C25-608D-45B6-80DB-5B008E7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 need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B8FF7-4842-4C93-A45B-839A59E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5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Open Account, sign up with the correct role, wait for approval, then use Student Portal and Community Hub.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BCACB-ACAA-43B7-B021-67C1012F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CC908-DD07-4D62-B59E-6078505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33375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369ED-7C2F-43A6-B61B-266014CD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909FA-51B4-4BD9-A825-36121147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E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E41"/>
                </a:solidFill>
                <a:latin typeface="Arial"/>
                <a:ea typeface="Arial"/>
                <a:cs typeface="Arial"/>
              </a:rPr>
              <a:t>I need to 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7DB2E-5487-4D48-90FA-52D56D8B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5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F8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D6F8C"/>
                </a:solidFill>
                <a:latin typeface="Arial"/>
                <a:ea typeface="Arial"/>
                <a:cs typeface="Arial"/>
              </a:rPr>
              <a:t>Use the relevant admin section, preview media, set the correct status, and verify the public card and detail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A4DA7-3A95-44D1-98D0-28A0AF47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BD11B-971A-4FD2-9AB3-4B0247C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704850"/>
          </a:xfrm>
          <a:prstGeom xmlns:a="http://schemas.openxmlformats.org/drawingml/2006/main" prst="roundRect">
            <a:avLst>
              <a:gd name="adj" fmla="val 27027"/>
            </a:avLst>
          </a:prstGeom>
          <a:solidFill xmlns:a="http://schemas.openxmlformats.org/drawingml/2006/main">
            <a:srgbClr val="07152F"/>
          </a:solidFill>
          <a:ln xmlns:a="http://schemas.openxmlformats.org/drawingml/2006/main" w="9525">
            <a:solidFill>
              <a:srgbClr val="2947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33913-C055-4776-AEA0-469490A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9D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9D8F2"/>
                </a:solidFill>
                <a:latin typeface="Arial"/>
                <a:ea typeface="Arial"/>
                <a:cs typeface="Arial"/>
              </a:rPr>
              <a:t>ICpEP Connect works best when every person can answer three questions: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FB57B-B07D-427E-B431-C39A82C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do I go?  What do I do?  What happens next?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EED34-57C1-4963-9094-E7DF5FFA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530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7A"/>
          </a:solidFill>
          <a:ln xmlns:a="http://schemas.openxmlformats.org/drawingml/2006/main" w="9525">
            <a:solidFill>
              <a:srgbClr val="2B579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49A68-1686-4B71-BC94-B526DD6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9D2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9D2FF"/>
                </a:solidFill>
                <a:latin typeface="Arial"/>
                <a:ea typeface="Arial"/>
                <a:cs typeface="Arial"/>
              </a:rPr>
              <a:t>END OF FEATURE TOUR</a:t>
            </a:r>
          </a:p>
        </p:txBody>
      </p:sp>
    </p:spTree>
    <p:extLst>
      <p:ext uri="{BB962C8B-B14F-4D97-AF65-F5344CB8AC3E}">
        <p14:creationId xmlns:p14="http://schemas.microsoft.com/office/powerpoint/2010/main" val="517749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2026-09-01T16:25:53.9910000Z</dcterms:created>
  <dcterms:modified xsi:type="dcterms:W3CDTF">2026-09-01T16:25:53.9910000Z</dcterms:modified>
</coreProperties>
</file>